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
  </p:notesMasterIdLst>
  <p:handoutMasterIdLst>
    <p:handoutMasterId r:id="rId7"/>
  </p:handoutMasterIdLst>
  <p:sldIdLst>
    <p:sldId id="264" r:id="rId2"/>
    <p:sldId id="269" r:id="rId3"/>
    <p:sldId id="270" r:id="rId4"/>
    <p:sldId id="267" r:id="rId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1" autoAdjust="0"/>
  </p:normalViewPr>
  <p:slideViewPr>
    <p:cSldViewPr snapToGrid="0">
      <p:cViewPr varScale="1">
        <p:scale>
          <a:sx n="105" d="100"/>
          <a:sy n="105" d="100"/>
        </p:scale>
        <p:origin x="834" y="9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3134"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2436EAE1-0528-7232-712D-3383277430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EB786300-E19E-E0B9-CB49-86CA11E89FF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EA9A6D-27D6-4CBC-BBEC-E898436E74A4}" type="datetimeFigureOut">
              <a:rPr lang="pt-BR" smtClean="0"/>
              <a:t>26/08/2025</a:t>
            </a:fld>
            <a:endParaRPr lang="pt-BR"/>
          </a:p>
        </p:txBody>
      </p:sp>
      <p:sp>
        <p:nvSpPr>
          <p:cNvPr id="4" name="Espaço Reservado para Rodapé 3">
            <a:extLst>
              <a:ext uri="{FF2B5EF4-FFF2-40B4-BE49-F238E27FC236}">
                <a16:creationId xmlns:a16="http://schemas.microsoft.com/office/drawing/2014/main" id="{17E92D99-96AD-65B7-81BD-00D1D4B6C1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C0EB8A12-73FB-77FD-207A-4453F241A0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B99F60-FD09-418F-8D9A-08797CF9FF9F}" type="slidenum">
              <a:rPr lang="pt-BR" smtClean="0"/>
              <a:t>‹nº›</a:t>
            </a:fld>
            <a:endParaRPr lang="pt-BR"/>
          </a:p>
        </p:txBody>
      </p:sp>
    </p:spTree>
    <p:extLst>
      <p:ext uri="{BB962C8B-B14F-4D97-AF65-F5344CB8AC3E}">
        <p14:creationId xmlns:p14="http://schemas.microsoft.com/office/powerpoint/2010/main" val="3370150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D75FFE-723C-4645-BCE9-5227DE960577}" type="datetimeFigureOut">
              <a:rPr lang="pt-BR" smtClean="0"/>
              <a:t>26/08/2025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6954FA-6D06-41CB-8A08-06DB2B474B72}" type="slidenum">
              <a:rPr lang="pt-BR" smtClean="0"/>
              <a:t>‹nº›</a:t>
            </a:fld>
            <a:endParaRPr lang="pt-BR"/>
          </a:p>
        </p:txBody>
      </p:sp>
    </p:spTree>
    <p:extLst>
      <p:ext uri="{BB962C8B-B14F-4D97-AF65-F5344CB8AC3E}">
        <p14:creationId xmlns:p14="http://schemas.microsoft.com/office/powerpoint/2010/main" val="1185492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12D3056B-F6CF-4E12-D093-CCA7A76FC7E8}"/>
              </a:ext>
            </a:extLst>
          </p:cNvPr>
          <p:cNvSpPr/>
          <p:nvPr userDrawn="1"/>
        </p:nvSpPr>
        <p:spPr>
          <a:xfrm>
            <a:off x="0" y="0"/>
            <a:ext cx="12192000" cy="1211863"/>
          </a:xfrm>
          <a:prstGeom prst="rect">
            <a:avLst/>
          </a:prstGeom>
          <a:gradFill flip="none" rotWithShape="1">
            <a:gsLst>
              <a:gs pos="0">
                <a:schemeClr val="bg2">
                  <a:lumMod val="90000"/>
                </a:schemeClr>
              </a:gs>
              <a:gs pos="10000">
                <a:schemeClr val="bg1">
                  <a:lumMod val="95000"/>
                  <a:shade val="67500"/>
                  <a:satMod val="115000"/>
                </a:schemeClr>
              </a:gs>
              <a:gs pos="60000">
                <a:schemeClr val="bg1">
                  <a:lumMod val="95000"/>
                  <a:shade val="100000"/>
                  <a:satMod val="115000"/>
                </a:schemeClr>
              </a:gs>
            </a:gsLst>
            <a:path path="circle">
              <a:fillToRect r="100000" b="100000"/>
            </a:path>
            <a:tileRect l="-100000" t="-100000"/>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29D65796-E031-4EFC-C333-88E5CFA00579}"/>
              </a:ext>
            </a:extLst>
          </p:cNvPr>
          <p:cNvSpPr txBox="1"/>
          <p:nvPr userDrawn="1"/>
        </p:nvSpPr>
        <p:spPr>
          <a:xfrm>
            <a:off x="2134517" y="79009"/>
            <a:ext cx="3024624" cy="923330"/>
          </a:xfrm>
          <a:prstGeom prst="rect">
            <a:avLst/>
          </a:prstGeom>
          <a:noFill/>
        </p:spPr>
        <p:txBody>
          <a:bodyPr wrap="square" rtlCol="0">
            <a:spAutoFit/>
          </a:bodyPr>
          <a:lstStyle/>
          <a:p>
            <a:r>
              <a:rPr lang="en-US" b="1" dirty="0">
                <a:solidFill>
                  <a:srgbClr val="002060"/>
                </a:solidFill>
                <a:latin typeface="Century Gothic" panose="020B0502020202020204" pitchFamily="34" charset="0"/>
                <a:ea typeface="Cambria Math" panose="02040503050406030204" pitchFamily="18" charset="0"/>
              </a:rPr>
              <a:t>XXV International Symposium on Solid State Dosimetry</a:t>
            </a:r>
          </a:p>
        </p:txBody>
      </p:sp>
      <p:pic>
        <p:nvPicPr>
          <p:cNvPr id="4" name="Imagem 3">
            <a:extLst>
              <a:ext uri="{FF2B5EF4-FFF2-40B4-BE49-F238E27FC236}">
                <a16:creationId xmlns:a16="http://schemas.microsoft.com/office/drawing/2014/main" id="{58188EA5-CFFF-A97C-0096-9EA2E97A05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380" y="190964"/>
            <a:ext cx="2070137" cy="742894"/>
          </a:xfrm>
          <a:prstGeom prst="rect">
            <a:avLst/>
          </a:prstGeom>
        </p:spPr>
      </p:pic>
      <p:pic>
        <p:nvPicPr>
          <p:cNvPr id="5" name="Imagem 4">
            <a:extLst>
              <a:ext uri="{FF2B5EF4-FFF2-40B4-BE49-F238E27FC236}">
                <a16:creationId xmlns:a16="http://schemas.microsoft.com/office/drawing/2014/main" id="{9EE56E8D-5409-8468-06B4-55E6A33C39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56540" y="361148"/>
            <a:ext cx="1389338" cy="610433"/>
          </a:xfrm>
          <a:prstGeom prst="rect">
            <a:avLst/>
          </a:prstGeom>
        </p:spPr>
      </p:pic>
      <p:pic>
        <p:nvPicPr>
          <p:cNvPr id="6" name="Imagem 5">
            <a:extLst>
              <a:ext uri="{FF2B5EF4-FFF2-40B4-BE49-F238E27FC236}">
                <a16:creationId xmlns:a16="http://schemas.microsoft.com/office/drawing/2014/main" id="{F2DB390A-47EF-8997-2CC4-B20218CC59C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54613" y="321927"/>
            <a:ext cx="765218" cy="680412"/>
          </a:xfrm>
          <a:prstGeom prst="rect">
            <a:avLst/>
          </a:prstGeom>
        </p:spPr>
      </p:pic>
      <p:pic>
        <p:nvPicPr>
          <p:cNvPr id="8" name="Imagem 7">
            <a:extLst>
              <a:ext uri="{FF2B5EF4-FFF2-40B4-BE49-F238E27FC236}">
                <a16:creationId xmlns:a16="http://schemas.microsoft.com/office/drawing/2014/main" id="{60D06AD2-1E25-0394-92BA-51A0770C5237}"/>
              </a:ext>
            </a:extLst>
          </p:cNvPr>
          <p:cNvPicPr>
            <a:picLocks noChangeAspect="1"/>
          </p:cNvPicPr>
          <p:nvPr userDrawn="1"/>
        </p:nvPicPr>
        <p:blipFill>
          <a:blip r:embed="rId5">
            <a:extLst>
              <a:ext uri="{28A0092B-C50C-407E-A947-70E740481C1C}">
                <a14:useLocalDpi xmlns:a14="http://schemas.microsoft.com/office/drawing/2010/main" val="0"/>
              </a:ext>
            </a:extLst>
          </a:blip>
          <a:srcRect l="5116" t="2703" r="5136" b="4646"/>
          <a:stretch/>
        </p:blipFill>
        <p:spPr>
          <a:xfrm>
            <a:off x="7793212" y="294113"/>
            <a:ext cx="713465" cy="680413"/>
          </a:xfrm>
          <a:prstGeom prst="rect">
            <a:avLst/>
          </a:prstGeom>
        </p:spPr>
      </p:pic>
      <p:pic>
        <p:nvPicPr>
          <p:cNvPr id="9" name="Imagem 8">
            <a:extLst>
              <a:ext uri="{FF2B5EF4-FFF2-40B4-BE49-F238E27FC236}">
                <a16:creationId xmlns:a16="http://schemas.microsoft.com/office/drawing/2014/main" id="{0E31B513-DE85-6EA7-BF1C-4A9C94A9130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745945" y="380661"/>
            <a:ext cx="1302975" cy="567543"/>
          </a:xfrm>
          <a:prstGeom prst="rect">
            <a:avLst/>
          </a:prstGeom>
        </p:spPr>
      </p:pic>
      <p:pic>
        <p:nvPicPr>
          <p:cNvPr id="11" name="Imagem 10">
            <a:extLst>
              <a:ext uri="{FF2B5EF4-FFF2-40B4-BE49-F238E27FC236}">
                <a16:creationId xmlns:a16="http://schemas.microsoft.com/office/drawing/2014/main" id="{8ADB9451-D71E-A14E-BD61-1294A042B510}"/>
              </a:ext>
            </a:extLst>
          </p:cNvPr>
          <p:cNvPicPr>
            <a:picLocks noChangeAspect="1"/>
          </p:cNvPicPr>
          <p:nvPr userDrawn="1"/>
        </p:nvPicPr>
        <p:blipFill>
          <a:blip r:embed="rId7">
            <a:extLst>
              <a:ext uri="{BEBA8EAE-BF5A-486C-A8C5-ECC9F3942E4B}">
                <a14:imgProps xmlns:a14="http://schemas.microsoft.com/office/drawing/2010/main">
                  <a14:imgLayer r:embed="rId8">
                    <a14:imgEffect>
                      <a14:saturation sat="40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flipH="1">
            <a:off x="8168642" y="4461358"/>
            <a:ext cx="4023358" cy="2396642"/>
          </a:xfrm>
          <a:prstGeom prst="rect">
            <a:avLst/>
          </a:prstGeom>
        </p:spPr>
      </p:pic>
      <p:sp>
        <p:nvSpPr>
          <p:cNvPr id="12" name="CaixaDeTexto 11">
            <a:extLst>
              <a:ext uri="{FF2B5EF4-FFF2-40B4-BE49-F238E27FC236}">
                <a16:creationId xmlns:a16="http://schemas.microsoft.com/office/drawing/2014/main" id="{62B64050-B400-7FBC-CE40-3056F85F63AF}"/>
              </a:ext>
            </a:extLst>
          </p:cNvPr>
          <p:cNvSpPr txBox="1"/>
          <p:nvPr userDrawn="1"/>
        </p:nvSpPr>
        <p:spPr>
          <a:xfrm>
            <a:off x="0" y="953716"/>
            <a:ext cx="3903785" cy="292388"/>
          </a:xfrm>
          <a:prstGeom prst="rect">
            <a:avLst/>
          </a:prstGeom>
          <a:noFill/>
        </p:spPr>
        <p:txBody>
          <a:bodyPr wrap="square" rtlCol="0">
            <a:spAutoFit/>
          </a:bodyPr>
          <a:lstStyle/>
          <a:p>
            <a:r>
              <a:rPr lang="en-US" sz="1300" b="1" dirty="0">
                <a:solidFill>
                  <a:srgbClr val="002060"/>
                </a:solidFill>
                <a:latin typeface="Century Gothic" panose="020B0502020202020204" pitchFamily="34" charset="0"/>
                <a:ea typeface="Cambria Math" panose="02040503050406030204" pitchFamily="18" charset="0"/>
              </a:rPr>
              <a:t>September 22-26 2025, Belo Horizonte | Brazil</a:t>
            </a:r>
          </a:p>
        </p:txBody>
      </p:sp>
    </p:spTree>
    <p:extLst>
      <p:ext uri="{BB962C8B-B14F-4D97-AF65-F5344CB8AC3E}">
        <p14:creationId xmlns:p14="http://schemas.microsoft.com/office/powerpoint/2010/main" val="41605611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lide de Título">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3DF7B4E1-DA5C-9FD2-4362-21C8CA66F907}"/>
              </a:ext>
            </a:extLst>
          </p:cNvPr>
          <p:cNvSpPr/>
          <p:nvPr userDrawn="1"/>
        </p:nvSpPr>
        <p:spPr>
          <a:xfrm>
            <a:off x="0" y="0"/>
            <a:ext cx="12192000" cy="1211863"/>
          </a:xfrm>
          <a:prstGeom prst="rect">
            <a:avLst/>
          </a:prstGeom>
          <a:gradFill flip="none" rotWithShape="1">
            <a:gsLst>
              <a:gs pos="0">
                <a:schemeClr val="bg2">
                  <a:lumMod val="90000"/>
                </a:schemeClr>
              </a:gs>
              <a:gs pos="10000">
                <a:schemeClr val="bg1">
                  <a:lumMod val="95000"/>
                  <a:shade val="67500"/>
                  <a:satMod val="115000"/>
                </a:schemeClr>
              </a:gs>
              <a:gs pos="60000">
                <a:schemeClr val="bg1">
                  <a:lumMod val="95000"/>
                  <a:shade val="100000"/>
                  <a:satMod val="115000"/>
                </a:schemeClr>
              </a:gs>
            </a:gsLst>
            <a:path path="circle">
              <a:fillToRect r="100000" b="100000"/>
            </a:path>
            <a:tileRect l="-100000" t="-100000"/>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F743C360-2E74-62E8-2C28-6B247E6A6CD0}"/>
              </a:ext>
            </a:extLst>
          </p:cNvPr>
          <p:cNvSpPr txBox="1"/>
          <p:nvPr userDrawn="1"/>
        </p:nvSpPr>
        <p:spPr>
          <a:xfrm>
            <a:off x="2143080" y="249193"/>
            <a:ext cx="3024624" cy="923330"/>
          </a:xfrm>
          <a:prstGeom prst="rect">
            <a:avLst/>
          </a:prstGeom>
          <a:noFill/>
        </p:spPr>
        <p:txBody>
          <a:bodyPr wrap="square" rtlCol="0">
            <a:spAutoFit/>
          </a:bodyPr>
          <a:lstStyle/>
          <a:p>
            <a:r>
              <a:rPr lang="en-US" b="1" dirty="0">
                <a:solidFill>
                  <a:srgbClr val="002060"/>
                </a:solidFill>
                <a:latin typeface="Century Gothic" panose="020B0502020202020204" pitchFamily="34" charset="0"/>
                <a:ea typeface="Cambria Math" panose="02040503050406030204" pitchFamily="18" charset="0"/>
              </a:rPr>
              <a:t>XXV International Symposium on Solid State Dosimetry</a:t>
            </a:r>
          </a:p>
        </p:txBody>
      </p:sp>
      <p:pic>
        <p:nvPicPr>
          <p:cNvPr id="4" name="Imagem 3">
            <a:extLst>
              <a:ext uri="{FF2B5EF4-FFF2-40B4-BE49-F238E27FC236}">
                <a16:creationId xmlns:a16="http://schemas.microsoft.com/office/drawing/2014/main" id="{5F4D173F-6EE8-6355-1DAF-F285638F5A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943" y="361148"/>
            <a:ext cx="2070137" cy="742894"/>
          </a:xfrm>
          <a:prstGeom prst="rect">
            <a:avLst/>
          </a:prstGeom>
        </p:spPr>
      </p:pic>
      <p:pic>
        <p:nvPicPr>
          <p:cNvPr id="5" name="Imagem 4">
            <a:extLst>
              <a:ext uri="{FF2B5EF4-FFF2-40B4-BE49-F238E27FC236}">
                <a16:creationId xmlns:a16="http://schemas.microsoft.com/office/drawing/2014/main" id="{0D7FE709-540E-16ED-FDB2-7E19F48745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56540" y="361148"/>
            <a:ext cx="1389338" cy="610433"/>
          </a:xfrm>
          <a:prstGeom prst="rect">
            <a:avLst/>
          </a:prstGeom>
        </p:spPr>
      </p:pic>
      <p:pic>
        <p:nvPicPr>
          <p:cNvPr id="6" name="Imagem 5">
            <a:extLst>
              <a:ext uri="{FF2B5EF4-FFF2-40B4-BE49-F238E27FC236}">
                <a16:creationId xmlns:a16="http://schemas.microsoft.com/office/drawing/2014/main" id="{009E444D-9DBD-07A2-4D7C-8A664DDA324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54613" y="321927"/>
            <a:ext cx="765218" cy="680412"/>
          </a:xfrm>
          <a:prstGeom prst="rect">
            <a:avLst/>
          </a:prstGeom>
        </p:spPr>
      </p:pic>
      <p:pic>
        <p:nvPicPr>
          <p:cNvPr id="7" name="Imagem 6">
            <a:extLst>
              <a:ext uri="{FF2B5EF4-FFF2-40B4-BE49-F238E27FC236}">
                <a16:creationId xmlns:a16="http://schemas.microsoft.com/office/drawing/2014/main" id="{7A5126E0-9629-3341-F2F7-5169197666B4}"/>
              </a:ext>
            </a:extLst>
          </p:cNvPr>
          <p:cNvPicPr>
            <a:picLocks noChangeAspect="1"/>
          </p:cNvPicPr>
          <p:nvPr userDrawn="1"/>
        </p:nvPicPr>
        <p:blipFill>
          <a:blip r:embed="rId5">
            <a:extLst>
              <a:ext uri="{28A0092B-C50C-407E-A947-70E740481C1C}">
                <a14:useLocalDpi xmlns:a14="http://schemas.microsoft.com/office/drawing/2010/main" val="0"/>
              </a:ext>
            </a:extLst>
          </a:blip>
          <a:srcRect l="5116" t="2703" r="5136" b="4646"/>
          <a:stretch/>
        </p:blipFill>
        <p:spPr>
          <a:xfrm>
            <a:off x="7793212" y="294113"/>
            <a:ext cx="713465" cy="680413"/>
          </a:xfrm>
          <a:prstGeom prst="rect">
            <a:avLst/>
          </a:prstGeom>
        </p:spPr>
      </p:pic>
      <p:pic>
        <p:nvPicPr>
          <p:cNvPr id="8" name="Imagem 7">
            <a:extLst>
              <a:ext uri="{FF2B5EF4-FFF2-40B4-BE49-F238E27FC236}">
                <a16:creationId xmlns:a16="http://schemas.microsoft.com/office/drawing/2014/main" id="{01B084DA-C1FF-C50D-7C1B-0149624CEE1A}"/>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745945" y="380661"/>
            <a:ext cx="1302975" cy="567543"/>
          </a:xfrm>
          <a:prstGeom prst="rect">
            <a:avLst/>
          </a:prstGeom>
        </p:spPr>
      </p:pic>
    </p:spTree>
    <p:extLst>
      <p:ext uri="{BB962C8B-B14F-4D97-AF65-F5344CB8AC3E}">
        <p14:creationId xmlns:p14="http://schemas.microsoft.com/office/powerpoint/2010/main" val="2577086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2C28115F-9264-5281-FD4A-2784927B4B99}"/>
              </a:ext>
            </a:extLst>
          </p:cNvPr>
          <p:cNvSpPr/>
          <p:nvPr userDrawn="1"/>
        </p:nvSpPr>
        <p:spPr>
          <a:xfrm>
            <a:off x="-2" y="6488216"/>
            <a:ext cx="12192000" cy="369784"/>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pt-BR" sz="1600" dirty="0"/>
          </a:p>
        </p:txBody>
      </p:sp>
      <p:sp>
        <p:nvSpPr>
          <p:cNvPr id="2" name="Título 1">
            <a:extLst>
              <a:ext uri="{FF2B5EF4-FFF2-40B4-BE49-F238E27FC236}">
                <a16:creationId xmlns:a16="http://schemas.microsoft.com/office/drawing/2014/main" id="{FF6C9C99-F0F1-8966-D5FF-DBB5DCB9B1A7}"/>
              </a:ext>
            </a:extLst>
          </p:cNvPr>
          <p:cNvSpPr>
            <a:spLocks noGrp="1"/>
          </p:cNvSpPr>
          <p:nvPr>
            <p:ph type="title" hasCustomPrompt="1"/>
          </p:nvPr>
        </p:nvSpPr>
        <p:spPr>
          <a:xfrm>
            <a:off x="2276440" y="0"/>
            <a:ext cx="8133652" cy="939603"/>
          </a:xfrm>
        </p:spPr>
        <p:txBody>
          <a:bodyPr>
            <a:noAutofit/>
          </a:bodyPr>
          <a:lstStyle>
            <a:lvl1pPr algn="ctr">
              <a:defRPr sz="4000" b="1">
                <a:solidFill>
                  <a:srgbClr val="002060"/>
                </a:solidFill>
              </a:defRPr>
            </a:lvl1pPr>
          </a:lstStyle>
          <a:p>
            <a:r>
              <a:rPr lang="pt-BR" dirty="0" err="1"/>
              <a:t>Title</a:t>
            </a:r>
            <a:r>
              <a:rPr lang="pt-BR" dirty="0"/>
              <a:t> slide</a:t>
            </a:r>
          </a:p>
        </p:txBody>
      </p:sp>
      <p:sp>
        <p:nvSpPr>
          <p:cNvPr id="3" name="Espaço Reservado para Conteúdo 2">
            <a:extLst>
              <a:ext uri="{FF2B5EF4-FFF2-40B4-BE49-F238E27FC236}">
                <a16:creationId xmlns:a16="http://schemas.microsoft.com/office/drawing/2014/main" id="{A3DC37E2-7648-FC98-10F0-74967BEE32F9}"/>
              </a:ext>
            </a:extLst>
          </p:cNvPr>
          <p:cNvSpPr>
            <a:spLocks noGrp="1"/>
          </p:cNvSpPr>
          <p:nvPr>
            <p:ph idx="1" hasCustomPrompt="1"/>
          </p:nvPr>
        </p:nvSpPr>
        <p:spPr>
          <a:xfrm>
            <a:off x="838200" y="1482650"/>
            <a:ext cx="10515600" cy="4351338"/>
          </a:xfrm>
        </p:spPr>
        <p:txBody>
          <a:bodyPr/>
          <a:lstStyle>
            <a:lvl1pPr>
              <a:defRPr u="none"/>
            </a:lvl1pPr>
            <a:lvl2pPr marL="457200" indent="0">
              <a:buNone/>
              <a:defRPr/>
            </a:lvl2pPr>
          </a:lstStyle>
          <a:p>
            <a:pPr lvl="0"/>
            <a:r>
              <a:rPr lang="pt-BR" dirty="0"/>
              <a:t>Slide </a:t>
            </a:r>
            <a:r>
              <a:rPr lang="pt-BR" dirty="0" err="1"/>
              <a:t>Contents</a:t>
            </a:r>
            <a:endParaRPr lang="pt-BR" dirty="0"/>
          </a:p>
        </p:txBody>
      </p:sp>
      <p:sp>
        <p:nvSpPr>
          <p:cNvPr id="4" name="Espaço Reservado para Data 3">
            <a:extLst>
              <a:ext uri="{FF2B5EF4-FFF2-40B4-BE49-F238E27FC236}">
                <a16:creationId xmlns:a16="http://schemas.microsoft.com/office/drawing/2014/main" id="{B7EBBF0B-2394-907E-2B8C-21C108CDFFF0}"/>
              </a:ext>
            </a:extLst>
          </p:cNvPr>
          <p:cNvSpPr>
            <a:spLocks noGrp="1"/>
          </p:cNvSpPr>
          <p:nvPr>
            <p:ph type="dt" sz="half" idx="10"/>
          </p:nvPr>
        </p:nvSpPr>
        <p:spPr>
          <a:xfrm>
            <a:off x="-3" y="6490545"/>
            <a:ext cx="5820509" cy="365125"/>
          </a:xfrm>
        </p:spPr>
        <p:txBody>
          <a:bodyPr/>
          <a:lstStyle>
            <a:lvl1pPr>
              <a:defRPr sz="1800">
                <a:solidFill>
                  <a:schemeClr val="bg1"/>
                </a:solidFill>
              </a:defRPr>
            </a:lvl1pPr>
          </a:lstStyle>
          <a:p>
            <a:r>
              <a:rPr lang="pt-BR" dirty="0"/>
              <a:t>XXV ISSSD, </a:t>
            </a:r>
            <a:r>
              <a:rPr lang="pt-BR" dirty="0" err="1"/>
              <a:t>September</a:t>
            </a:r>
            <a:r>
              <a:rPr lang="pt-BR" dirty="0"/>
              <a:t> 22-26 2025, Belo Horizonte | </a:t>
            </a:r>
            <a:r>
              <a:rPr lang="pt-BR" dirty="0" err="1"/>
              <a:t>Brazil</a:t>
            </a:r>
            <a:endParaRPr lang="pt-BR" dirty="0"/>
          </a:p>
        </p:txBody>
      </p:sp>
      <p:sp>
        <p:nvSpPr>
          <p:cNvPr id="6" name="Espaço Reservado para Número de Slide 5">
            <a:extLst>
              <a:ext uri="{FF2B5EF4-FFF2-40B4-BE49-F238E27FC236}">
                <a16:creationId xmlns:a16="http://schemas.microsoft.com/office/drawing/2014/main" id="{5FB141E3-89D2-9127-CBAE-4144FC27C14E}"/>
              </a:ext>
            </a:extLst>
          </p:cNvPr>
          <p:cNvSpPr>
            <a:spLocks noGrp="1"/>
          </p:cNvSpPr>
          <p:nvPr>
            <p:ph type="sldNum" sz="quarter" idx="12"/>
          </p:nvPr>
        </p:nvSpPr>
        <p:spPr>
          <a:xfrm>
            <a:off x="11149987" y="6492875"/>
            <a:ext cx="1042012" cy="365125"/>
          </a:xfrm>
        </p:spPr>
        <p:txBody>
          <a:bodyPr/>
          <a:lstStyle>
            <a:lvl1pPr>
              <a:defRPr sz="1600">
                <a:solidFill>
                  <a:schemeClr val="bg1"/>
                </a:solidFill>
              </a:defRPr>
            </a:lvl1pPr>
          </a:lstStyle>
          <a:p>
            <a:fld id="{51B09A1A-0D24-41B0-84AA-C29FD360F648}" type="slidenum">
              <a:rPr lang="pt-BR" smtClean="0"/>
              <a:pPr/>
              <a:t>‹nº›</a:t>
            </a:fld>
            <a:endParaRPr lang="pt-BR"/>
          </a:p>
        </p:txBody>
      </p:sp>
      <p:cxnSp>
        <p:nvCxnSpPr>
          <p:cNvPr id="7" name="Straight Connector 7">
            <a:extLst>
              <a:ext uri="{FF2B5EF4-FFF2-40B4-BE49-F238E27FC236}">
                <a16:creationId xmlns:a16="http://schemas.microsoft.com/office/drawing/2014/main" id="{E8FDF048-0141-5FCB-607C-778244FE436E}"/>
              </a:ext>
            </a:extLst>
          </p:cNvPr>
          <p:cNvCxnSpPr>
            <a:cxnSpLocks/>
          </p:cNvCxnSpPr>
          <p:nvPr userDrawn="1"/>
        </p:nvCxnSpPr>
        <p:spPr>
          <a:xfrm>
            <a:off x="-1" y="1024012"/>
            <a:ext cx="12192000" cy="0"/>
          </a:xfrm>
          <a:prstGeom prst="line">
            <a:avLst/>
          </a:prstGeom>
          <a:ln w="136525">
            <a:solidFill>
              <a:srgbClr val="002060"/>
            </a:solidFill>
          </a:ln>
          <a:effectLst>
            <a:outerShdw blurRad="50800" dist="38100" dir="5400000" algn="t" rotWithShape="0">
              <a:prstClr val="black">
                <a:alpha val="40000"/>
              </a:prstClr>
            </a:outerShdw>
            <a:softEdge rad="31750"/>
          </a:effectLst>
        </p:spPr>
        <p:style>
          <a:lnRef idx="1">
            <a:schemeClr val="accent1"/>
          </a:lnRef>
          <a:fillRef idx="0">
            <a:schemeClr val="accent1"/>
          </a:fillRef>
          <a:effectRef idx="0">
            <a:schemeClr val="accent1"/>
          </a:effectRef>
          <a:fontRef idx="minor">
            <a:schemeClr val="tx1"/>
          </a:fontRef>
        </p:style>
      </p:cxnSp>
      <p:pic>
        <p:nvPicPr>
          <p:cNvPr id="5" name="Imagem 4">
            <a:extLst>
              <a:ext uri="{FF2B5EF4-FFF2-40B4-BE49-F238E27FC236}">
                <a16:creationId xmlns:a16="http://schemas.microsoft.com/office/drawing/2014/main" id="{BBF1973E-65E2-6CC3-451E-C454511262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150" y="281118"/>
            <a:ext cx="2070137" cy="742894"/>
          </a:xfrm>
          <a:prstGeom prst="rect">
            <a:avLst/>
          </a:prstGeom>
        </p:spPr>
      </p:pic>
      <p:sp>
        <p:nvSpPr>
          <p:cNvPr id="9" name="Espaço Reservado para Conteúdo 2">
            <a:extLst>
              <a:ext uri="{FF2B5EF4-FFF2-40B4-BE49-F238E27FC236}">
                <a16:creationId xmlns:a16="http://schemas.microsoft.com/office/drawing/2014/main" id="{24C26BED-3115-07A5-F82E-FC20FCF8B38C}"/>
              </a:ext>
            </a:extLst>
          </p:cNvPr>
          <p:cNvSpPr>
            <a:spLocks noGrp="1"/>
          </p:cNvSpPr>
          <p:nvPr>
            <p:ph idx="13" hasCustomPrompt="1"/>
          </p:nvPr>
        </p:nvSpPr>
        <p:spPr>
          <a:xfrm>
            <a:off x="10410092" y="0"/>
            <a:ext cx="1781908" cy="939603"/>
          </a:xfrm>
        </p:spPr>
        <p:txBody>
          <a:bodyPr>
            <a:normAutofit/>
          </a:bodyPr>
          <a:lstStyle>
            <a:lvl1pPr marL="0" indent="0" algn="ctr">
              <a:buFontTx/>
              <a:buNone/>
              <a:defRPr sz="1600" u="none"/>
            </a:lvl1pPr>
            <a:lvl2pPr marL="457200" indent="0">
              <a:buNone/>
              <a:defRPr/>
            </a:lvl2pPr>
          </a:lstStyle>
          <a:p>
            <a:pPr lvl="0"/>
            <a:r>
              <a:rPr lang="pt-BR" dirty="0" err="1"/>
              <a:t>Optional</a:t>
            </a:r>
            <a:r>
              <a:rPr lang="pt-BR" dirty="0"/>
              <a:t> </a:t>
            </a:r>
            <a:r>
              <a:rPr lang="pt-BR" dirty="0" err="1"/>
              <a:t>Institutional</a:t>
            </a:r>
            <a:r>
              <a:rPr lang="pt-BR" dirty="0"/>
              <a:t> Logo (</a:t>
            </a:r>
            <a:r>
              <a:rPr lang="pt-BR" dirty="0" err="1"/>
              <a:t>with</a:t>
            </a:r>
            <a:r>
              <a:rPr lang="pt-BR" dirty="0"/>
              <a:t> transparente background)</a:t>
            </a:r>
          </a:p>
        </p:txBody>
      </p:sp>
    </p:spTree>
    <p:extLst>
      <p:ext uri="{BB962C8B-B14F-4D97-AF65-F5344CB8AC3E}">
        <p14:creationId xmlns:p14="http://schemas.microsoft.com/office/powerpoint/2010/main" val="888006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42F1B8-C128-EAAF-7E6A-F1672252CD3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A7DB37C-64DA-4668-F673-BA7D9F8B94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11E9014A-9F88-9D24-BF51-874BF97AC14F}"/>
              </a:ext>
            </a:extLst>
          </p:cNvPr>
          <p:cNvSpPr>
            <a:spLocks noGrp="1"/>
          </p:cNvSpPr>
          <p:nvPr>
            <p:ph type="dt" sz="half" idx="10"/>
          </p:nvPr>
        </p:nvSpPr>
        <p:spPr/>
        <p:txBody>
          <a:bodyPr/>
          <a:lstStyle/>
          <a:p>
            <a:r>
              <a:rPr lang="pt-BR"/>
              <a:t>XXV ISSSD, September 22-26 2025, Belo Horizonte | Brazil</a:t>
            </a:r>
          </a:p>
        </p:txBody>
      </p:sp>
      <p:sp>
        <p:nvSpPr>
          <p:cNvPr id="5" name="Espaço Reservado para Rodapé 4">
            <a:extLst>
              <a:ext uri="{FF2B5EF4-FFF2-40B4-BE49-F238E27FC236}">
                <a16:creationId xmlns:a16="http://schemas.microsoft.com/office/drawing/2014/main" id="{A4D30E10-3F66-74C1-3414-C483EBF4A11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A45371A-5E3F-86CF-E76E-5CA8E2CA9EC9}"/>
              </a:ext>
            </a:extLst>
          </p:cNvPr>
          <p:cNvSpPr>
            <a:spLocks noGrp="1"/>
          </p:cNvSpPr>
          <p:nvPr>
            <p:ph type="sldNum" sz="quarter" idx="12"/>
          </p:nvPr>
        </p:nvSpPr>
        <p:spPr/>
        <p:txBody>
          <a:bodyPr/>
          <a:lstStyle/>
          <a:p>
            <a:fld id="{51B09A1A-0D24-41B0-84AA-C29FD360F648}" type="slidenum">
              <a:rPr lang="pt-BR" smtClean="0"/>
              <a:t>‹nº›</a:t>
            </a:fld>
            <a:endParaRPr lang="pt-BR"/>
          </a:p>
        </p:txBody>
      </p:sp>
    </p:spTree>
    <p:extLst>
      <p:ext uri="{BB962C8B-B14F-4D97-AF65-F5344CB8AC3E}">
        <p14:creationId xmlns:p14="http://schemas.microsoft.com/office/powerpoint/2010/main" val="1404998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7AAE44-77E6-851E-6AA8-C35D5C9A13F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7E89555-2263-CBFB-86FC-ADFDAAA65C8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582C0A09-8D70-B5E2-DFE2-297BA6C65FEE}"/>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C7EBB1D-549C-8449-3CDC-2A1121235678}"/>
              </a:ext>
            </a:extLst>
          </p:cNvPr>
          <p:cNvSpPr>
            <a:spLocks noGrp="1"/>
          </p:cNvSpPr>
          <p:nvPr>
            <p:ph type="dt" sz="half" idx="10"/>
          </p:nvPr>
        </p:nvSpPr>
        <p:spPr/>
        <p:txBody>
          <a:bodyPr/>
          <a:lstStyle/>
          <a:p>
            <a:r>
              <a:rPr lang="pt-BR"/>
              <a:t>XXV ISSSD, September 22-26 2025, Belo Horizonte | Brazil</a:t>
            </a:r>
          </a:p>
        </p:txBody>
      </p:sp>
      <p:sp>
        <p:nvSpPr>
          <p:cNvPr id="6" name="Espaço Reservado para Rodapé 5">
            <a:extLst>
              <a:ext uri="{FF2B5EF4-FFF2-40B4-BE49-F238E27FC236}">
                <a16:creationId xmlns:a16="http://schemas.microsoft.com/office/drawing/2014/main" id="{D0821B5B-1681-1F93-83E6-E51634DE65A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B372B59C-5A7D-182E-7527-0E686F61859C}"/>
              </a:ext>
            </a:extLst>
          </p:cNvPr>
          <p:cNvSpPr>
            <a:spLocks noGrp="1"/>
          </p:cNvSpPr>
          <p:nvPr>
            <p:ph type="sldNum" sz="quarter" idx="12"/>
          </p:nvPr>
        </p:nvSpPr>
        <p:spPr/>
        <p:txBody>
          <a:bodyPr/>
          <a:lstStyle/>
          <a:p>
            <a:fld id="{51B09A1A-0D24-41B0-84AA-C29FD360F648}" type="slidenum">
              <a:rPr lang="pt-BR" smtClean="0"/>
              <a:t>‹nº›</a:t>
            </a:fld>
            <a:endParaRPr lang="pt-BR"/>
          </a:p>
        </p:txBody>
      </p:sp>
    </p:spTree>
    <p:extLst>
      <p:ext uri="{BB962C8B-B14F-4D97-AF65-F5344CB8AC3E}">
        <p14:creationId xmlns:p14="http://schemas.microsoft.com/office/powerpoint/2010/main" val="1927725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843786-6298-0382-DCA7-69F9869A6813}"/>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21C5A68B-03B1-166E-B615-6B4F736570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BD7F1FC3-DA0F-3D49-CB33-17BBAFE598CE}"/>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F42FEBE-65F4-E26B-758F-239EC9D82B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9D4C83A-A287-70F2-D978-06A2C1C86423}"/>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0B803429-26C6-4FF2-0DFB-C3A8D67C6A6E}"/>
              </a:ext>
            </a:extLst>
          </p:cNvPr>
          <p:cNvSpPr>
            <a:spLocks noGrp="1"/>
          </p:cNvSpPr>
          <p:nvPr>
            <p:ph type="dt" sz="half" idx="10"/>
          </p:nvPr>
        </p:nvSpPr>
        <p:spPr/>
        <p:txBody>
          <a:bodyPr/>
          <a:lstStyle/>
          <a:p>
            <a:r>
              <a:rPr lang="pt-BR"/>
              <a:t>XXV ISSSD, September 22-26 2025, Belo Horizonte | Brazil</a:t>
            </a:r>
          </a:p>
        </p:txBody>
      </p:sp>
      <p:sp>
        <p:nvSpPr>
          <p:cNvPr id="8" name="Espaço Reservado para Rodapé 7">
            <a:extLst>
              <a:ext uri="{FF2B5EF4-FFF2-40B4-BE49-F238E27FC236}">
                <a16:creationId xmlns:a16="http://schemas.microsoft.com/office/drawing/2014/main" id="{A8AC5F00-3330-1D8E-E78F-F4755CF93263}"/>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1A9680C2-7714-CC6C-0EAC-EF9BA8F3294A}"/>
              </a:ext>
            </a:extLst>
          </p:cNvPr>
          <p:cNvSpPr>
            <a:spLocks noGrp="1"/>
          </p:cNvSpPr>
          <p:nvPr>
            <p:ph type="sldNum" sz="quarter" idx="12"/>
          </p:nvPr>
        </p:nvSpPr>
        <p:spPr/>
        <p:txBody>
          <a:bodyPr/>
          <a:lstStyle/>
          <a:p>
            <a:fld id="{51B09A1A-0D24-41B0-84AA-C29FD360F648}" type="slidenum">
              <a:rPr lang="pt-BR" smtClean="0"/>
              <a:t>‹nº›</a:t>
            </a:fld>
            <a:endParaRPr lang="pt-BR"/>
          </a:p>
        </p:txBody>
      </p:sp>
    </p:spTree>
    <p:extLst>
      <p:ext uri="{BB962C8B-B14F-4D97-AF65-F5344CB8AC3E}">
        <p14:creationId xmlns:p14="http://schemas.microsoft.com/office/powerpoint/2010/main" val="284234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2E203F-1FFC-5AD6-09B5-B66717F3211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BC9AED2E-35CB-CCFE-11A5-CE63136DB7B3}"/>
              </a:ext>
            </a:extLst>
          </p:cNvPr>
          <p:cNvSpPr>
            <a:spLocks noGrp="1"/>
          </p:cNvSpPr>
          <p:nvPr>
            <p:ph type="dt" sz="half" idx="10"/>
          </p:nvPr>
        </p:nvSpPr>
        <p:spPr/>
        <p:txBody>
          <a:bodyPr/>
          <a:lstStyle/>
          <a:p>
            <a:r>
              <a:rPr lang="pt-BR"/>
              <a:t>XXV ISSSD, September 22-26 2025, Belo Horizonte | Brazil</a:t>
            </a:r>
          </a:p>
        </p:txBody>
      </p:sp>
      <p:sp>
        <p:nvSpPr>
          <p:cNvPr id="4" name="Espaço Reservado para Rodapé 3">
            <a:extLst>
              <a:ext uri="{FF2B5EF4-FFF2-40B4-BE49-F238E27FC236}">
                <a16:creationId xmlns:a16="http://schemas.microsoft.com/office/drawing/2014/main" id="{7C947227-52B0-623A-3FF7-2786535FE0C7}"/>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CEED858F-5CF9-B266-E5AA-CBC13B2DFA11}"/>
              </a:ext>
            </a:extLst>
          </p:cNvPr>
          <p:cNvSpPr>
            <a:spLocks noGrp="1"/>
          </p:cNvSpPr>
          <p:nvPr>
            <p:ph type="sldNum" sz="quarter" idx="12"/>
          </p:nvPr>
        </p:nvSpPr>
        <p:spPr/>
        <p:txBody>
          <a:bodyPr/>
          <a:lstStyle/>
          <a:p>
            <a:fld id="{51B09A1A-0D24-41B0-84AA-C29FD360F648}" type="slidenum">
              <a:rPr lang="pt-BR" smtClean="0"/>
              <a:t>‹nº›</a:t>
            </a:fld>
            <a:endParaRPr lang="pt-BR"/>
          </a:p>
        </p:txBody>
      </p:sp>
    </p:spTree>
    <p:extLst>
      <p:ext uri="{BB962C8B-B14F-4D97-AF65-F5344CB8AC3E}">
        <p14:creationId xmlns:p14="http://schemas.microsoft.com/office/powerpoint/2010/main" val="352882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1839E698-0E43-AF78-8EDC-7B82249ECB33}"/>
              </a:ext>
            </a:extLst>
          </p:cNvPr>
          <p:cNvSpPr/>
          <p:nvPr userDrawn="1"/>
        </p:nvSpPr>
        <p:spPr>
          <a:xfrm>
            <a:off x="0" y="0"/>
            <a:ext cx="12192000" cy="1211863"/>
          </a:xfrm>
          <a:prstGeom prst="rect">
            <a:avLst/>
          </a:prstGeom>
          <a:gradFill flip="none" rotWithShape="1">
            <a:gsLst>
              <a:gs pos="0">
                <a:schemeClr val="bg2">
                  <a:lumMod val="90000"/>
                </a:schemeClr>
              </a:gs>
              <a:gs pos="10000">
                <a:schemeClr val="bg1">
                  <a:lumMod val="95000"/>
                  <a:shade val="67500"/>
                  <a:satMod val="115000"/>
                </a:schemeClr>
              </a:gs>
              <a:gs pos="60000">
                <a:schemeClr val="bg1">
                  <a:lumMod val="95000"/>
                  <a:shade val="100000"/>
                  <a:satMod val="115000"/>
                </a:schemeClr>
              </a:gs>
            </a:gsLst>
            <a:path path="circle">
              <a:fillToRect r="100000" b="100000"/>
            </a:path>
            <a:tileRect l="-100000" t="-100000"/>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CaixaDeTexto 5">
            <a:extLst>
              <a:ext uri="{FF2B5EF4-FFF2-40B4-BE49-F238E27FC236}">
                <a16:creationId xmlns:a16="http://schemas.microsoft.com/office/drawing/2014/main" id="{F77D792F-44E2-A92D-EFB1-23D3616050BE}"/>
              </a:ext>
            </a:extLst>
          </p:cNvPr>
          <p:cNvSpPr txBox="1"/>
          <p:nvPr userDrawn="1"/>
        </p:nvSpPr>
        <p:spPr>
          <a:xfrm>
            <a:off x="2143080" y="249193"/>
            <a:ext cx="3024624" cy="923330"/>
          </a:xfrm>
          <a:prstGeom prst="rect">
            <a:avLst/>
          </a:prstGeom>
          <a:noFill/>
        </p:spPr>
        <p:txBody>
          <a:bodyPr wrap="square" rtlCol="0">
            <a:spAutoFit/>
          </a:bodyPr>
          <a:lstStyle/>
          <a:p>
            <a:r>
              <a:rPr lang="en-US" b="1" dirty="0">
                <a:solidFill>
                  <a:srgbClr val="002060"/>
                </a:solidFill>
                <a:latin typeface="Century Gothic" panose="020B0502020202020204" pitchFamily="34" charset="0"/>
                <a:ea typeface="Cambria Math" panose="02040503050406030204" pitchFamily="18" charset="0"/>
              </a:rPr>
              <a:t>XXV International Symposium on Solid State Dosimetry</a:t>
            </a:r>
          </a:p>
        </p:txBody>
      </p:sp>
      <p:pic>
        <p:nvPicPr>
          <p:cNvPr id="7" name="Imagem 6">
            <a:extLst>
              <a:ext uri="{FF2B5EF4-FFF2-40B4-BE49-F238E27FC236}">
                <a16:creationId xmlns:a16="http://schemas.microsoft.com/office/drawing/2014/main" id="{C6DB839C-CEC1-2AFB-592E-173443DCE1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1676" y="338221"/>
            <a:ext cx="2070137" cy="742894"/>
          </a:xfrm>
          <a:prstGeom prst="rect">
            <a:avLst/>
          </a:prstGeom>
        </p:spPr>
      </p:pic>
      <p:pic>
        <p:nvPicPr>
          <p:cNvPr id="8" name="Imagem 7">
            <a:extLst>
              <a:ext uri="{FF2B5EF4-FFF2-40B4-BE49-F238E27FC236}">
                <a16:creationId xmlns:a16="http://schemas.microsoft.com/office/drawing/2014/main" id="{FDE217D4-FBF4-6A4B-2731-788520F40D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56540" y="361148"/>
            <a:ext cx="1389338" cy="610433"/>
          </a:xfrm>
          <a:prstGeom prst="rect">
            <a:avLst/>
          </a:prstGeom>
        </p:spPr>
      </p:pic>
      <p:pic>
        <p:nvPicPr>
          <p:cNvPr id="9" name="Imagem 8">
            <a:extLst>
              <a:ext uri="{FF2B5EF4-FFF2-40B4-BE49-F238E27FC236}">
                <a16:creationId xmlns:a16="http://schemas.microsoft.com/office/drawing/2014/main" id="{545F99AD-989E-0BDD-3077-15AB743F4D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54613" y="321927"/>
            <a:ext cx="765218" cy="680412"/>
          </a:xfrm>
          <a:prstGeom prst="rect">
            <a:avLst/>
          </a:prstGeom>
        </p:spPr>
      </p:pic>
      <p:pic>
        <p:nvPicPr>
          <p:cNvPr id="10" name="Imagem 9">
            <a:extLst>
              <a:ext uri="{FF2B5EF4-FFF2-40B4-BE49-F238E27FC236}">
                <a16:creationId xmlns:a16="http://schemas.microsoft.com/office/drawing/2014/main" id="{6602BC32-8FD2-0ADF-9FFD-929FF0FADD97}"/>
              </a:ext>
            </a:extLst>
          </p:cNvPr>
          <p:cNvPicPr>
            <a:picLocks noChangeAspect="1"/>
          </p:cNvPicPr>
          <p:nvPr userDrawn="1"/>
        </p:nvPicPr>
        <p:blipFill>
          <a:blip r:embed="rId5">
            <a:extLst>
              <a:ext uri="{28A0092B-C50C-407E-A947-70E740481C1C}">
                <a14:useLocalDpi xmlns:a14="http://schemas.microsoft.com/office/drawing/2010/main" val="0"/>
              </a:ext>
            </a:extLst>
          </a:blip>
          <a:srcRect l="5116" t="2703" r="5136" b="4646"/>
          <a:stretch/>
        </p:blipFill>
        <p:spPr>
          <a:xfrm>
            <a:off x="7793212" y="294113"/>
            <a:ext cx="713465" cy="680413"/>
          </a:xfrm>
          <a:prstGeom prst="rect">
            <a:avLst/>
          </a:prstGeom>
        </p:spPr>
      </p:pic>
      <p:pic>
        <p:nvPicPr>
          <p:cNvPr id="11" name="Imagem 10">
            <a:extLst>
              <a:ext uri="{FF2B5EF4-FFF2-40B4-BE49-F238E27FC236}">
                <a16:creationId xmlns:a16="http://schemas.microsoft.com/office/drawing/2014/main" id="{79DE6F66-D83C-BA99-3603-905A783B327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745945" y="380661"/>
            <a:ext cx="1302975" cy="567543"/>
          </a:xfrm>
          <a:prstGeom prst="rect">
            <a:avLst/>
          </a:prstGeom>
        </p:spPr>
      </p:pic>
      <p:sp>
        <p:nvSpPr>
          <p:cNvPr id="12" name="Retângulo 11">
            <a:extLst>
              <a:ext uri="{FF2B5EF4-FFF2-40B4-BE49-F238E27FC236}">
                <a16:creationId xmlns:a16="http://schemas.microsoft.com/office/drawing/2014/main" id="{53985C17-B0CD-3182-C0A4-36A19E8A2D66}"/>
              </a:ext>
            </a:extLst>
          </p:cNvPr>
          <p:cNvSpPr/>
          <p:nvPr userDrawn="1"/>
        </p:nvSpPr>
        <p:spPr>
          <a:xfrm>
            <a:off x="-2" y="6488216"/>
            <a:ext cx="12192000" cy="369784"/>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pt-BR" sz="1600" dirty="0"/>
          </a:p>
        </p:txBody>
      </p:sp>
      <p:sp>
        <p:nvSpPr>
          <p:cNvPr id="13" name="Espaço Reservado para Data 3">
            <a:extLst>
              <a:ext uri="{FF2B5EF4-FFF2-40B4-BE49-F238E27FC236}">
                <a16:creationId xmlns:a16="http://schemas.microsoft.com/office/drawing/2014/main" id="{AEA80B93-AF5A-7C6B-0106-D116B0EB09BC}"/>
              </a:ext>
            </a:extLst>
          </p:cNvPr>
          <p:cNvSpPr>
            <a:spLocks noGrp="1"/>
          </p:cNvSpPr>
          <p:nvPr>
            <p:ph type="dt" sz="half" idx="10"/>
          </p:nvPr>
        </p:nvSpPr>
        <p:spPr>
          <a:xfrm>
            <a:off x="-3" y="6490545"/>
            <a:ext cx="5820509" cy="365125"/>
          </a:xfrm>
        </p:spPr>
        <p:txBody>
          <a:bodyPr/>
          <a:lstStyle>
            <a:lvl1pPr>
              <a:defRPr sz="1800">
                <a:solidFill>
                  <a:schemeClr val="bg1"/>
                </a:solidFill>
              </a:defRPr>
            </a:lvl1pPr>
          </a:lstStyle>
          <a:p>
            <a:r>
              <a:rPr lang="pt-BR"/>
              <a:t>XXV ISSSD, September 22-26 2025, Belo Horizonte | Brazil</a:t>
            </a:r>
            <a:endParaRPr lang="pt-BR" dirty="0"/>
          </a:p>
        </p:txBody>
      </p:sp>
      <p:sp>
        <p:nvSpPr>
          <p:cNvPr id="14" name="Espaço Reservado para Número de Slide 5">
            <a:extLst>
              <a:ext uri="{FF2B5EF4-FFF2-40B4-BE49-F238E27FC236}">
                <a16:creationId xmlns:a16="http://schemas.microsoft.com/office/drawing/2014/main" id="{2C07F3CC-D551-CFD6-94B5-0B04C901FDF7}"/>
              </a:ext>
            </a:extLst>
          </p:cNvPr>
          <p:cNvSpPr>
            <a:spLocks noGrp="1"/>
          </p:cNvSpPr>
          <p:nvPr>
            <p:ph type="sldNum" sz="quarter" idx="12"/>
          </p:nvPr>
        </p:nvSpPr>
        <p:spPr>
          <a:xfrm>
            <a:off x="11149987" y="6492875"/>
            <a:ext cx="1042012" cy="365125"/>
          </a:xfrm>
        </p:spPr>
        <p:txBody>
          <a:bodyPr/>
          <a:lstStyle>
            <a:lvl1pPr>
              <a:defRPr sz="1600">
                <a:solidFill>
                  <a:schemeClr val="bg1"/>
                </a:solidFill>
              </a:defRPr>
            </a:lvl1pPr>
          </a:lstStyle>
          <a:p>
            <a:fld id="{51B09A1A-0D24-41B0-84AA-C29FD360F648}" type="slidenum">
              <a:rPr lang="pt-BR" smtClean="0"/>
              <a:pPr/>
              <a:t>‹nº›</a:t>
            </a:fld>
            <a:endParaRPr lang="pt-BR"/>
          </a:p>
        </p:txBody>
      </p:sp>
    </p:spTree>
    <p:extLst>
      <p:ext uri="{BB962C8B-B14F-4D97-AF65-F5344CB8AC3E}">
        <p14:creationId xmlns:p14="http://schemas.microsoft.com/office/powerpoint/2010/main" val="2977042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313F6A-43EE-0892-C66F-B6B0C6F1F195}"/>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97E69341-B674-C2AE-94E2-803B08E168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2092519D-579E-104E-C82D-8E866EADCD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188DA8C-259E-1550-BE9B-82D5A40AA892}"/>
              </a:ext>
            </a:extLst>
          </p:cNvPr>
          <p:cNvSpPr>
            <a:spLocks noGrp="1"/>
          </p:cNvSpPr>
          <p:nvPr>
            <p:ph type="dt" sz="half" idx="10"/>
          </p:nvPr>
        </p:nvSpPr>
        <p:spPr/>
        <p:txBody>
          <a:bodyPr/>
          <a:lstStyle/>
          <a:p>
            <a:r>
              <a:rPr lang="pt-BR"/>
              <a:t>XXV ISSSD, September 22-26 2025, Belo Horizonte | Brazil</a:t>
            </a:r>
          </a:p>
        </p:txBody>
      </p:sp>
      <p:sp>
        <p:nvSpPr>
          <p:cNvPr id="6" name="Espaço Reservado para Rodapé 5">
            <a:extLst>
              <a:ext uri="{FF2B5EF4-FFF2-40B4-BE49-F238E27FC236}">
                <a16:creationId xmlns:a16="http://schemas.microsoft.com/office/drawing/2014/main" id="{C7C78976-5081-9A52-AA8E-FBC2A96DA03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3182DE92-BE43-7F97-7E84-682C2B7EACF4}"/>
              </a:ext>
            </a:extLst>
          </p:cNvPr>
          <p:cNvSpPr>
            <a:spLocks noGrp="1"/>
          </p:cNvSpPr>
          <p:nvPr>
            <p:ph type="sldNum" sz="quarter" idx="12"/>
          </p:nvPr>
        </p:nvSpPr>
        <p:spPr/>
        <p:txBody>
          <a:bodyPr/>
          <a:lstStyle/>
          <a:p>
            <a:fld id="{51B09A1A-0D24-41B0-84AA-C29FD360F648}" type="slidenum">
              <a:rPr lang="pt-BR" smtClean="0"/>
              <a:t>‹nº›</a:t>
            </a:fld>
            <a:endParaRPr lang="pt-BR"/>
          </a:p>
        </p:txBody>
      </p:sp>
    </p:spTree>
    <p:extLst>
      <p:ext uri="{BB962C8B-B14F-4D97-AF65-F5344CB8AC3E}">
        <p14:creationId xmlns:p14="http://schemas.microsoft.com/office/powerpoint/2010/main" val="1688734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9EEC20-E675-C96A-C683-200EB275EAE1}"/>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624FFCCC-2B61-BF25-A29C-9974894E9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F00BB514-795A-9E86-F7A6-FD4B7CAA3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3BEFA6D-2AF5-8093-23D9-2221B90DD3A8}"/>
              </a:ext>
            </a:extLst>
          </p:cNvPr>
          <p:cNvSpPr>
            <a:spLocks noGrp="1"/>
          </p:cNvSpPr>
          <p:nvPr>
            <p:ph type="dt" sz="half" idx="10"/>
          </p:nvPr>
        </p:nvSpPr>
        <p:spPr/>
        <p:txBody>
          <a:bodyPr/>
          <a:lstStyle/>
          <a:p>
            <a:r>
              <a:rPr lang="pt-BR"/>
              <a:t>XXV ISSSD, September 22-26 2025, Belo Horizonte | Brazil</a:t>
            </a:r>
          </a:p>
        </p:txBody>
      </p:sp>
      <p:sp>
        <p:nvSpPr>
          <p:cNvPr id="6" name="Espaço Reservado para Rodapé 5">
            <a:extLst>
              <a:ext uri="{FF2B5EF4-FFF2-40B4-BE49-F238E27FC236}">
                <a16:creationId xmlns:a16="http://schemas.microsoft.com/office/drawing/2014/main" id="{3DF2BFB7-A887-827A-47B6-E7FF29F7176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652E02E-3F63-E6F2-259E-A6A0335A406D}"/>
              </a:ext>
            </a:extLst>
          </p:cNvPr>
          <p:cNvSpPr>
            <a:spLocks noGrp="1"/>
          </p:cNvSpPr>
          <p:nvPr>
            <p:ph type="sldNum" sz="quarter" idx="12"/>
          </p:nvPr>
        </p:nvSpPr>
        <p:spPr/>
        <p:txBody>
          <a:bodyPr/>
          <a:lstStyle/>
          <a:p>
            <a:fld id="{51B09A1A-0D24-41B0-84AA-C29FD360F648}" type="slidenum">
              <a:rPr lang="pt-BR" smtClean="0"/>
              <a:t>‹nº›</a:t>
            </a:fld>
            <a:endParaRPr lang="pt-BR"/>
          </a:p>
        </p:txBody>
      </p:sp>
    </p:spTree>
    <p:extLst>
      <p:ext uri="{BB962C8B-B14F-4D97-AF65-F5344CB8AC3E}">
        <p14:creationId xmlns:p14="http://schemas.microsoft.com/office/powerpoint/2010/main" val="546602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A64C9-13F4-E881-9A41-21AC26212D91}"/>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3A35ADC-EA36-0A84-4F26-0E4AB01ECCB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3737061-99E7-30E8-52AC-EFEC8651E080}"/>
              </a:ext>
            </a:extLst>
          </p:cNvPr>
          <p:cNvSpPr>
            <a:spLocks noGrp="1"/>
          </p:cNvSpPr>
          <p:nvPr>
            <p:ph type="dt" sz="half" idx="10"/>
          </p:nvPr>
        </p:nvSpPr>
        <p:spPr/>
        <p:txBody>
          <a:bodyPr/>
          <a:lstStyle/>
          <a:p>
            <a:r>
              <a:rPr lang="pt-BR"/>
              <a:t>XXV ISSSD, September 22-26 2025, Belo Horizonte | Brazil</a:t>
            </a:r>
          </a:p>
        </p:txBody>
      </p:sp>
      <p:sp>
        <p:nvSpPr>
          <p:cNvPr id="5" name="Espaço Reservado para Rodapé 4">
            <a:extLst>
              <a:ext uri="{FF2B5EF4-FFF2-40B4-BE49-F238E27FC236}">
                <a16:creationId xmlns:a16="http://schemas.microsoft.com/office/drawing/2014/main" id="{C55036BF-AFDC-7BE5-5AF8-B159DE10D25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B16D20E-3C46-DF98-2F1E-FBD2334C2977}"/>
              </a:ext>
            </a:extLst>
          </p:cNvPr>
          <p:cNvSpPr>
            <a:spLocks noGrp="1"/>
          </p:cNvSpPr>
          <p:nvPr>
            <p:ph type="sldNum" sz="quarter" idx="12"/>
          </p:nvPr>
        </p:nvSpPr>
        <p:spPr/>
        <p:txBody>
          <a:bodyPr/>
          <a:lstStyle/>
          <a:p>
            <a:fld id="{51B09A1A-0D24-41B0-84AA-C29FD360F648}" type="slidenum">
              <a:rPr lang="pt-BR" smtClean="0"/>
              <a:t>‹nº›</a:t>
            </a:fld>
            <a:endParaRPr lang="pt-BR"/>
          </a:p>
        </p:txBody>
      </p:sp>
    </p:spTree>
    <p:extLst>
      <p:ext uri="{BB962C8B-B14F-4D97-AF65-F5344CB8AC3E}">
        <p14:creationId xmlns:p14="http://schemas.microsoft.com/office/powerpoint/2010/main" val="2946881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8FB2ABF-F848-72DE-99A2-692E8178822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10FADFA6-9AEB-8CC1-4862-C5B3904A1B29}"/>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C7F4999-A744-2CD8-1ACF-1A8312821C37}"/>
              </a:ext>
            </a:extLst>
          </p:cNvPr>
          <p:cNvSpPr>
            <a:spLocks noGrp="1"/>
          </p:cNvSpPr>
          <p:nvPr>
            <p:ph type="dt" sz="half" idx="10"/>
          </p:nvPr>
        </p:nvSpPr>
        <p:spPr/>
        <p:txBody>
          <a:bodyPr/>
          <a:lstStyle/>
          <a:p>
            <a:r>
              <a:rPr lang="pt-BR"/>
              <a:t>XXV ISSSD, September 22-26 2025, Belo Horizonte | Brazil</a:t>
            </a:r>
          </a:p>
        </p:txBody>
      </p:sp>
      <p:sp>
        <p:nvSpPr>
          <p:cNvPr id="5" name="Espaço Reservado para Rodapé 4">
            <a:extLst>
              <a:ext uri="{FF2B5EF4-FFF2-40B4-BE49-F238E27FC236}">
                <a16:creationId xmlns:a16="http://schemas.microsoft.com/office/drawing/2014/main" id="{B1639EFC-CFE6-730F-BB15-C97CB5E494D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742CB34-2567-6212-BF4C-E1CB00424D10}"/>
              </a:ext>
            </a:extLst>
          </p:cNvPr>
          <p:cNvSpPr>
            <a:spLocks noGrp="1"/>
          </p:cNvSpPr>
          <p:nvPr>
            <p:ph type="sldNum" sz="quarter" idx="12"/>
          </p:nvPr>
        </p:nvSpPr>
        <p:spPr/>
        <p:txBody>
          <a:bodyPr/>
          <a:lstStyle/>
          <a:p>
            <a:fld id="{51B09A1A-0D24-41B0-84AA-C29FD360F648}" type="slidenum">
              <a:rPr lang="pt-BR" smtClean="0"/>
              <a:t>‹nº›</a:t>
            </a:fld>
            <a:endParaRPr lang="pt-BR"/>
          </a:p>
        </p:txBody>
      </p:sp>
    </p:spTree>
    <p:extLst>
      <p:ext uri="{BB962C8B-B14F-4D97-AF65-F5344CB8AC3E}">
        <p14:creationId xmlns:p14="http://schemas.microsoft.com/office/powerpoint/2010/main" val="2971467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9F82F06F-EC97-99AF-9B21-113DBF5E2F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D6DF2163-C83F-350F-B8C7-84C6A22813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4F9432E-6A30-ABA9-A2DD-09EDD1D854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pt-BR"/>
              <a:t>XXV ISSSD, September 22-26 2025, Belo Horizonte | Brazil</a:t>
            </a:r>
          </a:p>
        </p:txBody>
      </p:sp>
      <p:sp>
        <p:nvSpPr>
          <p:cNvPr id="5" name="Espaço Reservado para Rodapé 4">
            <a:extLst>
              <a:ext uri="{FF2B5EF4-FFF2-40B4-BE49-F238E27FC236}">
                <a16:creationId xmlns:a16="http://schemas.microsoft.com/office/drawing/2014/main" id="{4DED8204-C7CA-02F0-F22A-C86D397E27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D98EFCFA-C997-9D1A-DB64-1F904FABAA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B09A1A-0D24-41B0-84AA-C29FD360F648}" type="slidenum">
              <a:rPr lang="pt-BR" smtClean="0"/>
              <a:t>‹nº›</a:t>
            </a:fld>
            <a:endParaRPr lang="pt-BR"/>
          </a:p>
        </p:txBody>
      </p:sp>
    </p:spTree>
    <p:extLst>
      <p:ext uri="{BB962C8B-B14F-4D97-AF65-F5344CB8AC3E}">
        <p14:creationId xmlns:p14="http://schemas.microsoft.com/office/powerpoint/2010/main" val="262260586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5E8BF-6650-C8FF-7FC2-1FAFDE0700B2}"/>
              </a:ext>
            </a:extLst>
          </p:cNvPr>
          <p:cNvSpPr txBox="1">
            <a:spLocks/>
          </p:cNvSpPr>
          <p:nvPr/>
        </p:nvSpPr>
        <p:spPr>
          <a:xfrm>
            <a:off x="483274" y="1974407"/>
            <a:ext cx="11191856" cy="46482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US" b="1"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Title of </a:t>
            </a:r>
            <a:r>
              <a:rPr lang="tr-TR" altLang="en-US" b="1"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t</a:t>
            </a:r>
            <a:r>
              <a:rPr lang="en-GB" altLang="en-US" b="1"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he Paper/Presentation</a:t>
            </a:r>
            <a:br>
              <a:rPr lang="en-US" altLang="en-US" sz="3200" b="1"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br>
              <a:rPr lang="en-US" altLang="en-US" sz="32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Author1</a:t>
            </a:r>
            <a:r>
              <a:rPr lang="en-US" altLang="en-US" sz="2000" baseline="30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1</a:t>
            </a:r>
            <a: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 Author2</a:t>
            </a:r>
            <a:r>
              <a:rPr lang="en-US" altLang="en-US" sz="2000" baseline="30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2</a:t>
            </a:r>
            <a: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 and </a:t>
            </a:r>
            <a:r>
              <a:rPr lang="en-US" altLang="en-US" sz="2000" b="1"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Presenting Author</a:t>
            </a:r>
            <a:r>
              <a:rPr lang="en-US" altLang="en-US" sz="2000" b="1" baseline="30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3</a:t>
            </a:r>
          </a:p>
          <a:p>
            <a:endParaRPr lang="en-US" altLang="en-US" sz="1600" b="1" dirty="0">
              <a:solidFill>
                <a:srgbClr val="002060"/>
              </a:solidFill>
              <a:latin typeface="Segoe UI Historic" panose="020B0502040204020203" pitchFamily="34" charset="0"/>
              <a:ea typeface="Segoe UI Historic" panose="020B0502040204020203" pitchFamily="34" charset="0"/>
              <a:cs typeface="Segoe UI Historic" panose="020B0502040204020203" pitchFamily="34" charset="0"/>
            </a:endParaRPr>
          </a:p>
          <a:p>
            <a:endParaRPr lang="en-US" altLang="en-US" sz="1600" b="1" dirty="0">
              <a:solidFill>
                <a:srgbClr val="002060"/>
              </a:solidFill>
              <a:latin typeface="Segoe UI Historic" panose="020B0502040204020203" pitchFamily="34" charset="0"/>
              <a:ea typeface="Segoe UI Historic" panose="020B0502040204020203" pitchFamily="34" charset="0"/>
              <a:cs typeface="Segoe UI Historic" panose="020B0502040204020203" pitchFamily="34" charset="0"/>
            </a:endParaRPr>
          </a:p>
          <a:p>
            <a:endParaRPr lang="en-US" altLang="en-US" sz="1600" b="1" dirty="0">
              <a:solidFill>
                <a:srgbClr val="002060"/>
              </a:solidFill>
              <a:latin typeface="Segoe UI Historic" panose="020B0502040204020203" pitchFamily="34" charset="0"/>
              <a:ea typeface="Segoe UI Historic" panose="020B0502040204020203" pitchFamily="34" charset="0"/>
              <a:cs typeface="Segoe UI Historic" panose="020B0502040204020203" pitchFamily="34" charset="0"/>
            </a:endParaRPr>
          </a:p>
          <a:p>
            <a:r>
              <a:rPr lang="en-US" altLang="en-US" sz="1600" b="1" dirty="0">
                <a:solidFill>
                  <a:srgbClr val="002060"/>
                </a:solidFill>
                <a:latin typeface="Segoe UI Historic" panose="020B0502040204020203" pitchFamily="34" charset="0"/>
                <a:ea typeface="Segoe UI Historic" panose="020B0502040204020203" pitchFamily="34" charset="0"/>
                <a:cs typeface="Segoe UI Historic" panose="020B0502040204020203" pitchFamily="34" charset="0"/>
              </a:rPr>
              <a:t>(Author’s Affiliation Logos)</a:t>
            </a:r>
            <a:b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b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 </a:t>
            </a:r>
            <a:b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br>
              <a:rPr lang="tr-TR"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r>
              <a:rPr lang="en-US" altLang="en-US" sz="2000" baseline="30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1</a:t>
            </a:r>
            <a: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 Affiliation1 </a:t>
            </a:r>
            <a:b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r>
              <a:rPr lang="en-US" altLang="en-US" sz="2000" baseline="30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2 </a:t>
            </a:r>
            <a: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Affiliation2</a:t>
            </a:r>
            <a:b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r>
              <a:rPr lang="en-US" altLang="en-US" sz="2000" baseline="30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3</a:t>
            </a:r>
            <a:r>
              <a:rPr lang="en-US" altLang="en-US" sz="2000" b="1" baseline="30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 </a:t>
            </a:r>
            <a: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t>Affiliation3</a:t>
            </a:r>
            <a:br>
              <a:rPr lang="en-US" altLang="en-US" sz="20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rPr>
            </a:br>
            <a:endParaRPr lang="en-US" altLang="en-US" sz="3200" dirty="0">
              <a:solidFill>
                <a:srgbClr val="002060"/>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aixaDeTexto 2">
            <a:extLst>
              <a:ext uri="{FF2B5EF4-FFF2-40B4-BE49-F238E27FC236}">
                <a16:creationId xmlns:a16="http://schemas.microsoft.com/office/drawing/2014/main" id="{88F67842-10CC-64F3-8FF4-F62944A76F90}"/>
              </a:ext>
            </a:extLst>
          </p:cNvPr>
          <p:cNvSpPr txBox="1"/>
          <p:nvPr/>
        </p:nvSpPr>
        <p:spPr>
          <a:xfrm>
            <a:off x="0" y="1348627"/>
            <a:ext cx="1871603" cy="584775"/>
          </a:xfrm>
          <a:prstGeom prst="rect">
            <a:avLst/>
          </a:prstGeom>
          <a:noFill/>
        </p:spPr>
        <p:txBody>
          <a:bodyPr wrap="none" rtlCol="0">
            <a:spAutoFit/>
          </a:bodyPr>
          <a:lstStyle/>
          <a:p>
            <a:r>
              <a:rPr lang="pt-BR" sz="3200" dirty="0">
                <a:solidFill>
                  <a:srgbClr val="002060"/>
                </a:solidFill>
              </a:rPr>
              <a:t>ID.: GX.99</a:t>
            </a:r>
          </a:p>
        </p:txBody>
      </p:sp>
      <p:sp>
        <p:nvSpPr>
          <p:cNvPr id="4" name="Text Box 9">
            <a:extLst>
              <a:ext uri="{FF2B5EF4-FFF2-40B4-BE49-F238E27FC236}">
                <a16:creationId xmlns:a16="http://schemas.microsoft.com/office/drawing/2014/main" id="{B8E81C23-99C9-C08B-C906-94AD337BCED2}"/>
              </a:ext>
            </a:extLst>
          </p:cNvPr>
          <p:cNvSpPr txBox="1">
            <a:spLocks noChangeArrowheads="1"/>
          </p:cNvSpPr>
          <p:nvPr/>
        </p:nvSpPr>
        <p:spPr bwMode="auto">
          <a:xfrm>
            <a:off x="10193586" y="137917"/>
            <a:ext cx="1998414" cy="954107"/>
          </a:xfrm>
          <a:prstGeom prst="rect">
            <a:avLst/>
          </a:prstGeom>
          <a:noFill/>
          <a:ln>
            <a:noFill/>
            <a:headEnd/>
            <a:tailEnd/>
          </a:ln>
        </p:spPr>
        <p:style>
          <a:lnRef idx="1">
            <a:schemeClr val="dk1"/>
          </a:lnRef>
          <a:fillRef idx="2">
            <a:schemeClr val="dk1"/>
          </a:fillRef>
          <a:effectRef idx="1">
            <a:schemeClr val="dk1"/>
          </a:effectRef>
          <a:fontRef idx="minor">
            <a:schemeClr val="dk1"/>
          </a:fontRef>
        </p:style>
        <p:txBody>
          <a:bodyPr wrap="square">
            <a:spAutoFit/>
          </a:bodyPr>
          <a:lstStyle/>
          <a:p>
            <a:pPr algn="ctr" eaLnBrk="1" hangingPunct="1">
              <a:defRPr/>
            </a:pPr>
            <a:r>
              <a:rPr lang="tr-TR" sz="1400" b="1" dirty="0" err="1">
                <a:solidFill>
                  <a:schemeClr val="tx1"/>
                </a:solidFill>
                <a:latin typeface="+mj-lt"/>
                <a:ea typeface="Segoe UI Historic" panose="020B0502040204020203" pitchFamily="34" charset="0"/>
                <a:cs typeface="Segoe UI Historic" panose="020B0502040204020203" pitchFamily="34" charset="0"/>
              </a:rPr>
              <a:t>Optional</a:t>
            </a:r>
            <a:r>
              <a:rPr lang="tr-TR" sz="1400" b="1" dirty="0">
                <a:solidFill>
                  <a:schemeClr val="tx1"/>
                </a:solidFill>
                <a:latin typeface="+mj-lt"/>
                <a:ea typeface="Segoe UI Historic" panose="020B0502040204020203" pitchFamily="34" charset="0"/>
                <a:cs typeface="Segoe UI Historic" panose="020B0502040204020203" pitchFamily="34" charset="0"/>
              </a:rPr>
              <a:t> </a:t>
            </a:r>
          </a:p>
          <a:p>
            <a:pPr algn="ctr" eaLnBrk="1" hangingPunct="1">
              <a:defRPr/>
            </a:pPr>
            <a:r>
              <a:rPr lang="tr-TR" sz="1400" b="1" dirty="0">
                <a:solidFill>
                  <a:schemeClr val="tx1"/>
                </a:solidFill>
                <a:latin typeface="+mj-lt"/>
                <a:ea typeface="Segoe UI Historic" panose="020B0502040204020203" pitchFamily="34" charset="0"/>
                <a:cs typeface="Segoe UI Historic" panose="020B0502040204020203" pitchFamily="34" charset="0"/>
              </a:rPr>
              <a:t>Institutional Logo</a:t>
            </a:r>
          </a:p>
          <a:p>
            <a:pPr algn="ctr" eaLnBrk="1" hangingPunct="1">
              <a:defRPr/>
            </a:pPr>
            <a:r>
              <a:rPr lang="pt-BR" sz="1400" b="1" dirty="0">
                <a:solidFill>
                  <a:schemeClr val="tx1"/>
                </a:solidFill>
                <a:latin typeface="+mj-lt"/>
                <a:ea typeface="Segoe UI Historic" panose="020B0502040204020203" pitchFamily="34" charset="0"/>
                <a:cs typeface="Segoe UI Historic" panose="020B0502040204020203" pitchFamily="34" charset="0"/>
              </a:rPr>
              <a:t> (</a:t>
            </a:r>
            <a:r>
              <a:rPr lang="pt-BR" sz="1400" b="1" dirty="0" err="1">
                <a:solidFill>
                  <a:schemeClr val="tx1"/>
                </a:solidFill>
                <a:latin typeface="+mj-lt"/>
                <a:ea typeface="Segoe UI Historic" panose="020B0502040204020203" pitchFamily="34" charset="0"/>
                <a:cs typeface="Segoe UI Historic" panose="020B0502040204020203" pitchFamily="34" charset="0"/>
              </a:rPr>
              <a:t>with</a:t>
            </a:r>
            <a:r>
              <a:rPr lang="pt-BR" sz="1400" b="1" dirty="0">
                <a:solidFill>
                  <a:schemeClr val="tx1"/>
                </a:solidFill>
                <a:latin typeface="+mj-lt"/>
                <a:ea typeface="Segoe UI Historic" panose="020B0502040204020203" pitchFamily="34" charset="0"/>
                <a:cs typeface="Segoe UI Historic" panose="020B0502040204020203" pitchFamily="34" charset="0"/>
              </a:rPr>
              <a:t> </a:t>
            </a:r>
            <a:r>
              <a:rPr lang="pt-BR" sz="1400" b="1" dirty="0" err="1">
                <a:solidFill>
                  <a:schemeClr val="tx1"/>
                </a:solidFill>
                <a:latin typeface="+mj-lt"/>
                <a:ea typeface="Segoe UI Historic" panose="020B0502040204020203" pitchFamily="34" charset="0"/>
                <a:cs typeface="Segoe UI Historic" panose="020B0502040204020203" pitchFamily="34" charset="0"/>
              </a:rPr>
              <a:t>transparent</a:t>
            </a:r>
            <a:r>
              <a:rPr lang="pt-BR" sz="1400" b="1" dirty="0">
                <a:solidFill>
                  <a:schemeClr val="tx1"/>
                </a:solidFill>
                <a:latin typeface="+mj-lt"/>
                <a:ea typeface="Segoe UI Historic" panose="020B0502040204020203" pitchFamily="34" charset="0"/>
                <a:cs typeface="Segoe UI Historic" panose="020B0502040204020203" pitchFamily="34" charset="0"/>
              </a:rPr>
              <a:t> background)</a:t>
            </a:r>
            <a:endParaRPr lang="en-US" sz="1400" b="1" dirty="0">
              <a:solidFill>
                <a:schemeClr val="tx1"/>
              </a:solidFill>
              <a:latin typeface="+mj-lt"/>
              <a:ea typeface="Segoe UI Historic" panose="020B0502040204020203" pitchFamily="34" charset="0"/>
              <a:cs typeface="Segoe UI Historic" panose="020B0502040204020203" pitchFamily="34" charset="0"/>
            </a:endParaRPr>
          </a:p>
        </p:txBody>
      </p:sp>
    </p:spTree>
    <p:extLst>
      <p:ext uri="{BB962C8B-B14F-4D97-AF65-F5344CB8AC3E}">
        <p14:creationId xmlns:p14="http://schemas.microsoft.com/office/powerpoint/2010/main" val="1504586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83C2FB-BC88-378D-8088-B774C309E6EA}"/>
              </a:ext>
            </a:extLst>
          </p:cNvPr>
          <p:cNvSpPr>
            <a:spLocks noGrp="1"/>
          </p:cNvSpPr>
          <p:nvPr>
            <p:ph type="title"/>
          </p:nvPr>
        </p:nvSpPr>
        <p:spPr/>
        <p:txBody>
          <a:bodyPr/>
          <a:lstStyle/>
          <a:p>
            <a:r>
              <a:rPr lang="en-US" sz="3200" dirty="0">
                <a:solidFill>
                  <a:srgbClr val="002060"/>
                </a:solidFill>
              </a:rPr>
              <a:t>Instructions for Oral Presentations – In-Person and Remote Formats</a:t>
            </a:r>
            <a:endParaRPr lang="pt-BR" sz="3200" dirty="0"/>
          </a:p>
        </p:txBody>
      </p:sp>
      <p:sp>
        <p:nvSpPr>
          <p:cNvPr id="4" name="Espaço Reservado para Data 3">
            <a:extLst>
              <a:ext uri="{FF2B5EF4-FFF2-40B4-BE49-F238E27FC236}">
                <a16:creationId xmlns:a16="http://schemas.microsoft.com/office/drawing/2014/main" id="{04BC61D9-9EC3-A50B-8AB7-C425DEFB95A1}"/>
              </a:ext>
            </a:extLst>
          </p:cNvPr>
          <p:cNvSpPr>
            <a:spLocks noGrp="1"/>
          </p:cNvSpPr>
          <p:nvPr>
            <p:ph type="dt" sz="half" idx="10"/>
          </p:nvPr>
        </p:nvSpPr>
        <p:spPr/>
        <p:txBody>
          <a:bodyPr/>
          <a:lstStyle/>
          <a:p>
            <a:r>
              <a:rPr lang="pt-BR"/>
              <a:t>XXV ISSSD, September 22-26 2025, Belo Horizonte | Brazil</a:t>
            </a:r>
            <a:endParaRPr lang="pt-BR" dirty="0"/>
          </a:p>
        </p:txBody>
      </p:sp>
      <p:sp>
        <p:nvSpPr>
          <p:cNvPr id="5" name="Espaço Reservado para Número de Slide 4">
            <a:extLst>
              <a:ext uri="{FF2B5EF4-FFF2-40B4-BE49-F238E27FC236}">
                <a16:creationId xmlns:a16="http://schemas.microsoft.com/office/drawing/2014/main" id="{0EC45355-0582-DDE2-091D-DC5A5959FC5D}"/>
              </a:ext>
            </a:extLst>
          </p:cNvPr>
          <p:cNvSpPr>
            <a:spLocks noGrp="1"/>
          </p:cNvSpPr>
          <p:nvPr>
            <p:ph type="sldNum" sz="quarter" idx="12"/>
          </p:nvPr>
        </p:nvSpPr>
        <p:spPr/>
        <p:txBody>
          <a:bodyPr/>
          <a:lstStyle/>
          <a:p>
            <a:fld id="{51B09A1A-0D24-41B0-84AA-C29FD360F648}" type="slidenum">
              <a:rPr lang="pt-BR" smtClean="0"/>
              <a:pPr/>
              <a:t>2</a:t>
            </a:fld>
            <a:endParaRPr lang="pt-BR"/>
          </a:p>
        </p:txBody>
      </p:sp>
      <p:sp>
        <p:nvSpPr>
          <p:cNvPr id="6" name="Espaço Reservado para Conteúdo 5">
            <a:extLst>
              <a:ext uri="{FF2B5EF4-FFF2-40B4-BE49-F238E27FC236}">
                <a16:creationId xmlns:a16="http://schemas.microsoft.com/office/drawing/2014/main" id="{FE86C0C6-81B2-ADDC-1E88-49C5028432EF}"/>
              </a:ext>
            </a:extLst>
          </p:cNvPr>
          <p:cNvSpPr>
            <a:spLocks noGrp="1"/>
          </p:cNvSpPr>
          <p:nvPr>
            <p:ph idx="13"/>
          </p:nvPr>
        </p:nvSpPr>
        <p:spPr/>
        <p:txBody>
          <a:bodyPr/>
          <a:lstStyle/>
          <a:p>
            <a:endParaRPr lang="pt-BR" dirty="0"/>
          </a:p>
        </p:txBody>
      </p:sp>
      <p:sp>
        <p:nvSpPr>
          <p:cNvPr id="7" name="Espaço Reservado para Conteúdo 2">
            <a:extLst>
              <a:ext uri="{FF2B5EF4-FFF2-40B4-BE49-F238E27FC236}">
                <a16:creationId xmlns:a16="http://schemas.microsoft.com/office/drawing/2014/main" id="{A95661E5-677B-604E-4615-7EFFAFE35441}"/>
              </a:ext>
            </a:extLst>
          </p:cNvPr>
          <p:cNvSpPr>
            <a:spLocks noGrp="1"/>
          </p:cNvSpPr>
          <p:nvPr>
            <p:ph idx="1"/>
          </p:nvPr>
        </p:nvSpPr>
        <p:spPr>
          <a:xfrm>
            <a:off x="838200" y="1482724"/>
            <a:ext cx="10515600" cy="4726051"/>
          </a:xfrm>
        </p:spPr>
        <p:txBody>
          <a:bodyPr>
            <a:normAutofit fontScale="92500" lnSpcReduction="10000"/>
          </a:bodyPr>
          <a:lstStyle/>
          <a:p>
            <a:pPr marL="514350" indent="-514350">
              <a:buFont typeface="+mj-lt"/>
              <a:buAutoNum type="arabicPeriod"/>
            </a:pPr>
            <a:r>
              <a:rPr lang="pt-BR" sz="2000" dirty="0" err="1"/>
              <a:t>Presentation</a:t>
            </a:r>
            <a:r>
              <a:rPr lang="pt-BR" sz="2000" dirty="0"/>
              <a:t> Time </a:t>
            </a:r>
            <a:r>
              <a:rPr lang="pt-BR" sz="2000" dirty="0" err="1"/>
              <a:t>and</a:t>
            </a:r>
            <a:r>
              <a:rPr lang="pt-BR" sz="2000" dirty="0"/>
              <a:t> </a:t>
            </a:r>
            <a:r>
              <a:rPr lang="pt-BR" sz="2000" dirty="0" err="1"/>
              <a:t>Language</a:t>
            </a:r>
            <a:endParaRPr lang="pt-BR" sz="2000" dirty="0"/>
          </a:p>
          <a:p>
            <a:pPr marL="742950" lvl="1" indent="-514350">
              <a:buFont typeface="Arial" panose="020B0604020202020204" pitchFamily="34" charset="0"/>
              <a:buChar char="•"/>
            </a:pPr>
            <a:r>
              <a:rPr lang="en-US" sz="1600" dirty="0"/>
              <a:t>The </a:t>
            </a:r>
            <a:r>
              <a:rPr lang="en-US" sz="1600" dirty="0">
                <a:solidFill>
                  <a:srgbClr val="FF0000"/>
                </a:solidFill>
              </a:rPr>
              <a:t>maximum</a:t>
            </a:r>
            <a:r>
              <a:rPr lang="en-US" sz="1600" dirty="0"/>
              <a:t> time for oral presentations is </a:t>
            </a:r>
            <a:r>
              <a:rPr lang="en-US" sz="1600" dirty="0">
                <a:solidFill>
                  <a:srgbClr val="FF0000"/>
                </a:solidFill>
              </a:rPr>
              <a:t>12 minutes</a:t>
            </a:r>
            <a:r>
              <a:rPr lang="en-US" sz="1600" dirty="0"/>
              <a:t>, followed by 3 minutes for questions. We recommend timing your talk to ensure you stay within the limit.</a:t>
            </a:r>
          </a:p>
          <a:p>
            <a:pPr marL="742950" lvl="1" indent="-514350">
              <a:buFont typeface="Arial" panose="020B0604020202020204" pitchFamily="34" charset="0"/>
              <a:buChar char="•"/>
            </a:pPr>
            <a:r>
              <a:rPr lang="en-US" sz="1600" dirty="0"/>
              <a:t>Presentations are accepted in </a:t>
            </a:r>
            <a:r>
              <a:rPr lang="en-US" sz="1600" b="1" dirty="0">
                <a:solidFill>
                  <a:srgbClr val="FF0000"/>
                </a:solidFill>
              </a:rPr>
              <a:t>English, Spanish, and Portuguese</a:t>
            </a:r>
            <a:r>
              <a:rPr lang="en-US" sz="1600" dirty="0"/>
              <a:t>. However, we strongly recommend presenting in English, both for personal experience and for the general experience of the event participants, who come from various parts of the world and will be watching. The slides  must be</a:t>
            </a:r>
            <a:r>
              <a:rPr lang="en-US" sz="1600" b="1" dirty="0"/>
              <a:t> </a:t>
            </a:r>
            <a:r>
              <a:rPr lang="en-US" sz="1600" b="1" dirty="0">
                <a:solidFill>
                  <a:srgbClr val="FF0000"/>
                </a:solidFill>
              </a:rPr>
              <a:t>obligatorily in English</a:t>
            </a:r>
            <a:r>
              <a:rPr lang="en-US" sz="1600" dirty="0"/>
              <a:t>.</a:t>
            </a:r>
          </a:p>
          <a:p>
            <a:pPr marL="514350" indent="-514350">
              <a:buFont typeface="+mj-lt"/>
              <a:buAutoNum type="arabicPeriod"/>
            </a:pPr>
            <a:r>
              <a:rPr lang="en-US" sz="2000" dirty="0"/>
              <a:t>For </a:t>
            </a:r>
            <a:r>
              <a:rPr lang="en-US" sz="2000" b="1" u="sng" dirty="0"/>
              <a:t>Remote Presentations</a:t>
            </a:r>
            <a:r>
              <a:rPr lang="en-US" sz="2000" b="1" dirty="0"/>
              <a:t> </a:t>
            </a:r>
            <a:r>
              <a:rPr lang="en-US" sz="2000" dirty="0"/>
              <a:t>(Pre-recorded Video)</a:t>
            </a:r>
          </a:p>
          <a:p>
            <a:pPr marL="742950" lvl="1" indent="-514350">
              <a:buFont typeface="Arial" panose="020B0604020202020204" pitchFamily="34" charset="0"/>
              <a:buChar char="•"/>
            </a:pPr>
            <a:r>
              <a:rPr lang="en-US" sz="1600" dirty="0"/>
              <a:t>The presentation must be submitted as a video file (MP4) with a maximum duration of </a:t>
            </a:r>
            <a:r>
              <a:rPr lang="en-US" sz="1600" b="1" dirty="0">
                <a:solidFill>
                  <a:srgbClr val="FF0000"/>
                </a:solidFill>
              </a:rPr>
              <a:t>12 minutes</a:t>
            </a:r>
            <a:r>
              <a:rPr lang="en-US" sz="1600" dirty="0"/>
              <a:t>. Presentations </a:t>
            </a:r>
            <a:r>
              <a:rPr lang="en-US" sz="1600" u="sng" dirty="0"/>
              <a:t>exceeding this time </a:t>
            </a:r>
            <a:r>
              <a:rPr lang="en-US" sz="1600" dirty="0"/>
              <a:t>limit will </a:t>
            </a:r>
            <a:r>
              <a:rPr lang="en-US" sz="1600" u="sng" dirty="0"/>
              <a:t>not be accepted</a:t>
            </a:r>
            <a:r>
              <a:rPr lang="en-US" sz="1600" dirty="0"/>
              <a:t>, so please ensure your video stays within the allotted duration.</a:t>
            </a:r>
          </a:p>
          <a:p>
            <a:pPr marL="742950" lvl="1" indent="-514350">
              <a:buFont typeface="Arial" panose="020B0604020202020204" pitchFamily="34" charset="0"/>
              <a:buChar char="•"/>
            </a:pPr>
            <a:r>
              <a:rPr lang="en-US" sz="1600" dirty="0"/>
              <a:t>Ensure good audio and video quality. Speak clearly and </a:t>
            </a:r>
            <a:r>
              <a:rPr lang="en-US" sz="1600" u="sng" dirty="0"/>
              <a:t>avoid</a:t>
            </a:r>
            <a:r>
              <a:rPr lang="en-US" sz="1600" dirty="0"/>
              <a:t> background noise.</a:t>
            </a:r>
          </a:p>
          <a:p>
            <a:pPr marL="742950" lvl="1" indent="-514350">
              <a:buFont typeface="Arial" panose="020B0604020202020204" pitchFamily="34" charset="0"/>
              <a:buChar char="•"/>
            </a:pPr>
            <a:r>
              <a:rPr lang="en-US" sz="1600" dirty="0"/>
              <a:t>The video should include your spoken narration synchronized with the slides (voice-over presentation format).</a:t>
            </a:r>
          </a:p>
          <a:p>
            <a:pPr marL="742950" lvl="1" indent="-514350">
              <a:buFont typeface="Arial" panose="020B0604020202020204" pitchFamily="34" charset="0"/>
              <a:buChar char="•"/>
            </a:pPr>
            <a:r>
              <a:rPr lang="en-US" sz="1600" dirty="0"/>
              <a:t>Do not send slides </a:t>
            </a:r>
            <a:r>
              <a:rPr lang="en-US" sz="1600" u="sng" dirty="0"/>
              <a:t>without narration </a:t>
            </a:r>
            <a:r>
              <a:rPr lang="en-US" sz="1600" dirty="0"/>
              <a:t>— oral communication is essential.</a:t>
            </a:r>
          </a:p>
          <a:p>
            <a:pPr marL="742950" lvl="1" indent="-514350">
              <a:buFont typeface="Arial" panose="020B0604020202020204" pitchFamily="34" charset="0"/>
              <a:buChar char="•"/>
            </a:pPr>
            <a:r>
              <a:rPr lang="en-US" sz="1600" dirty="0"/>
              <a:t>You are expected to be </a:t>
            </a:r>
            <a:r>
              <a:rPr lang="en-US" sz="1600" b="1" u="sng" dirty="0"/>
              <a:t>present online</a:t>
            </a:r>
            <a:r>
              <a:rPr lang="en-US" sz="1600" dirty="0"/>
              <a:t> during your </a:t>
            </a:r>
            <a:r>
              <a:rPr lang="en-US" sz="1600" u="sng" dirty="0"/>
              <a:t>scheduled presentation</a:t>
            </a:r>
            <a:r>
              <a:rPr lang="en-US" sz="1600" dirty="0"/>
              <a:t>, as per the event program, </a:t>
            </a:r>
            <a:r>
              <a:rPr lang="en-US" sz="1600" u="sng" dirty="0"/>
              <a:t>to answer any questions</a:t>
            </a:r>
            <a:r>
              <a:rPr lang="en-US" sz="1600" dirty="0"/>
              <a:t> related to your work at the end of your presentation.</a:t>
            </a:r>
          </a:p>
          <a:p>
            <a:pPr marL="514350" indent="-514350">
              <a:buFont typeface="+mj-lt"/>
              <a:buAutoNum type="arabicPeriod"/>
            </a:pPr>
            <a:r>
              <a:rPr lang="en-US" sz="2000" dirty="0"/>
              <a:t>Captions, Titles, and Visual Content </a:t>
            </a:r>
          </a:p>
          <a:p>
            <a:pPr marL="742950" lvl="1" indent="-514350">
              <a:buFont typeface="Arial" panose="020B0604020202020204" pitchFamily="34" charset="0"/>
              <a:buChar char="•"/>
            </a:pPr>
            <a:r>
              <a:rPr lang="en-US" sz="1600" dirty="0"/>
              <a:t>Make sure that figures, graphs, and tables include clear titles and explanatory captions.</a:t>
            </a:r>
          </a:p>
          <a:p>
            <a:pPr marL="742950" lvl="1" indent="-514350">
              <a:buFont typeface="Arial" panose="020B0604020202020204" pitchFamily="34" charset="0"/>
              <a:buChar char="•"/>
            </a:pPr>
            <a:r>
              <a:rPr lang="en-US" sz="1600" u="sng" dirty="0"/>
              <a:t>Avoid too much text</a:t>
            </a:r>
            <a:r>
              <a:rPr lang="en-US" sz="1600" dirty="0"/>
              <a:t> on the slides. </a:t>
            </a:r>
            <a:r>
              <a:rPr lang="en-US" sz="1600" u="sng" dirty="0"/>
              <a:t>Focus on clarity, objectivity, and a clean visual layout</a:t>
            </a:r>
            <a:r>
              <a:rPr lang="en-US" sz="1600" dirty="0"/>
              <a:t>.</a:t>
            </a:r>
          </a:p>
          <a:p>
            <a:pPr marL="742950" lvl="1" indent="-514350">
              <a:buFont typeface="Arial" panose="020B0604020202020204" pitchFamily="34" charset="0"/>
              <a:buChar char="•"/>
            </a:pPr>
            <a:r>
              <a:rPr lang="en-US" sz="1600" dirty="0"/>
              <a:t>Use legible fonts and ensure good contrast between text and background.</a:t>
            </a:r>
            <a:endParaRPr lang="pt-BR" sz="1600" dirty="0"/>
          </a:p>
        </p:txBody>
      </p:sp>
    </p:spTree>
    <p:extLst>
      <p:ext uri="{BB962C8B-B14F-4D97-AF65-F5344CB8AC3E}">
        <p14:creationId xmlns:p14="http://schemas.microsoft.com/office/powerpoint/2010/main" val="2743108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12163-ADE3-13D8-4818-1A4EA135E6F0}"/>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0A22EAC0-3964-EB4D-AA37-045F8008F2AD}"/>
              </a:ext>
            </a:extLst>
          </p:cNvPr>
          <p:cNvSpPr>
            <a:spLocks noGrp="1"/>
          </p:cNvSpPr>
          <p:nvPr>
            <p:ph idx="1"/>
          </p:nvPr>
        </p:nvSpPr>
        <p:spPr/>
        <p:txBody>
          <a:bodyPr/>
          <a:lstStyle/>
          <a:p>
            <a:endParaRPr lang="pt-BR"/>
          </a:p>
        </p:txBody>
      </p:sp>
      <p:sp>
        <p:nvSpPr>
          <p:cNvPr id="4" name="Espaço Reservado para Data 3">
            <a:extLst>
              <a:ext uri="{FF2B5EF4-FFF2-40B4-BE49-F238E27FC236}">
                <a16:creationId xmlns:a16="http://schemas.microsoft.com/office/drawing/2014/main" id="{DCEE8A67-1FF2-CA85-DA5A-5D8A8BEB5154}"/>
              </a:ext>
            </a:extLst>
          </p:cNvPr>
          <p:cNvSpPr>
            <a:spLocks noGrp="1"/>
          </p:cNvSpPr>
          <p:nvPr>
            <p:ph type="dt" sz="half" idx="10"/>
          </p:nvPr>
        </p:nvSpPr>
        <p:spPr/>
        <p:txBody>
          <a:bodyPr/>
          <a:lstStyle/>
          <a:p>
            <a:r>
              <a:rPr lang="pt-BR"/>
              <a:t>XXV ISSSD, September 22-26 2025, Belo Horizonte | Brazil</a:t>
            </a:r>
            <a:endParaRPr lang="pt-BR" dirty="0"/>
          </a:p>
        </p:txBody>
      </p:sp>
      <p:sp>
        <p:nvSpPr>
          <p:cNvPr id="5" name="Espaço Reservado para Número de Slide 4">
            <a:extLst>
              <a:ext uri="{FF2B5EF4-FFF2-40B4-BE49-F238E27FC236}">
                <a16:creationId xmlns:a16="http://schemas.microsoft.com/office/drawing/2014/main" id="{A5222EAE-CCC1-1AB9-DD23-5CEBD0DB9320}"/>
              </a:ext>
            </a:extLst>
          </p:cNvPr>
          <p:cNvSpPr>
            <a:spLocks noGrp="1"/>
          </p:cNvSpPr>
          <p:nvPr>
            <p:ph type="sldNum" sz="quarter" idx="12"/>
          </p:nvPr>
        </p:nvSpPr>
        <p:spPr/>
        <p:txBody>
          <a:bodyPr/>
          <a:lstStyle/>
          <a:p>
            <a:fld id="{51B09A1A-0D24-41B0-84AA-C29FD360F648}" type="slidenum">
              <a:rPr lang="pt-BR" smtClean="0"/>
              <a:pPr/>
              <a:t>3</a:t>
            </a:fld>
            <a:endParaRPr lang="pt-BR"/>
          </a:p>
        </p:txBody>
      </p:sp>
      <p:sp>
        <p:nvSpPr>
          <p:cNvPr id="6" name="Espaço Reservado para Conteúdo 5">
            <a:extLst>
              <a:ext uri="{FF2B5EF4-FFF2-40B4-BE49-F238E27FC236}">
                <a16:creationId xmlns:a16="http://schemas.microsoft.com/office/drawing/2014/main" id="{84464719-D87E-3ABB-CB94-F3CCCC4FB83C}"/>
              </a:ext>
            </a:extLst>
          </p:cNvPr>
          <p:cNvSpPr>
            <a:spLocks noGrp="1"/>
          </p:cNvSpPr>
          <p:nvPr>
            <p:ph idx="13"/>
          </p:nvPr>
        </p:nvSpPr>
        <p:spPr/>
        <p:txBody>
          <a:bodyPr/>
          <a:lstStyle/>
          <a:p>
            <a:endParaRPr lang="pt-BR"/>
          </a:p>
        </p:txBody>
      </p:sp>
    </p:spTree>
    <p:extLst>
      <p:ext uri="{BB962C8B-B14F-4D97-AF65-F5344CB8AC3E}">
        <p14:creationId xmlns:p14="http://schemas.microsoft.com/office/powerpoint/2010/main" val="1975886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BB0D7F6C-92BA-AAC1-4209-F3727C1B6E8B}"/>
              </a:ext>
            </a:extLst>
          </p:cNvPr>
          <p:cNvSpPr>
            <a:spLocks noGrp="1"/>
          </p:cNvSpPr>
          <p:nvPr>
            <p:ph type="dt" sz="half" idx="10"/>
          </p:nvPr>
        </p:nvSpPr>
        <p:spPr/>
        <p:txBody>
          <a:bodyPr/>
          <a:lstStyle/>
          <a:p>
            <a:r>
              <a:rPr lang="pt-BR"/>
              <a:t>XXV ISSSD, September 22-26 2025, Belo Horizonte | Brazil</a:t>
            </a:r>
            <a:endParaRPr lang="pt-BR" dirty="0"/>
          </a:p>
        </p:txBody>
      </p:sp>
      <p:sp>
        <p:nvSpPr>
          <p:cNvPr id="3" name="Espaço Reservado para Número de Slide 2">
            <a:extLst>
              <a:ext uri="{FF2B5EF4-FFF2-40B4-BE49-F238E27FC236}">
                <a16:creationId xmlns:a16="http://schemas.microsoft.com/office/drawing/2014/main" id="{462CE2FA-06CF-5F65-F686-B341447D4E11}"/>
              </a:ext>
            </a:extLst>
          </p:cNvPr>
          <p:cNvSpPr>
            <a:spLocks noGrp="1"/>
          </p:cNvSpPr>
          <p:nvPr>
            <p:ph type="sldNum" sz="quarter" idx="12"/>
          </p:nvPr>
        </p:nvSpPr>
        <p:spPr/>
        <p:txBody>
          <a:bodyPr/>
          <a:lstStyle/>
          <a:p>
            <a:fld id="{51B09A1A-0D24-41B0-84AA-C29FD360F648}" type="slidenum">
              <a:rPr lang="pt-BR" smtClean="0"/>
              <a:pPr/>
              <a:t>4</a:t>
            </a:fld>
            <a:endParaRPr lang="pt-BR"/>
          </a:p>
        </p:txBody>
      </p:sp>
      <p:sp>
        <p:nvSpPr>
          <p:cNvPr id="4" name="Espaço Reservado para Conteúdo 2">
            <a:extLst>
              <a:ext uri="{FF2B5EF4-FFF2-40B4-BE49-F238E27FC236}">
                <a16:creationId xmlns:a16="http://schemas.microsoft.com/office/drawing/2014/main" id="{5F29AD0B-BF35-1491-5801-7AD925E02FF6}"/>
              </a:ext>
            </a:extLst>
          </p:cNvPr>
          <p:cNvSpPr txBox="1">
            <a:spLocks/>
          </p:cNvSpPr>
          <p:nvPr/>
        </p:nvSpPr>
        <p:spPr>
          <a:xfrm>
            <a:off x="838200" y="1482650"/>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pt-BR" sz="3600" dirty="0">
              <a:solidFill>
                <a:srgbClr val="002060"/>
              </a:solidFill>
            </a:endParaRPr>
          </a:p>
          <a:p>
            <a:pPr marL="0" indent="0" algn="ctr">
              <a:buFont typeface="Arial" panose="020B0604020202020204" pitchFamily="34" charset="0"/>
              <a:buNone/>
            </a:pPr>
            <a:r>
              <a:rPr lang="pt-BR" sz="3600" dirty="0" err="1">
                <a:solidFill>
                  <a:srgbClr val="002060"/>
                </a:solidFill>
              </a:rPr>
              <a:t>Thank</a:t>
            </a:r>
            <a:r>
              <a:rPr lang="pt-BR" sz="3600" dirty="0">
                <a:solidFill>
                  <a:srgbClr val="002060"/>
                </a:solidFill>
              </a:rPr>
              <a:t> </a:t>
            </a:r>
            <a:r>
              <a:rPr lang="pt-BR" sz="3600" dirty="0" err="1">
                <a:solidFill>
                  <a:srgbClr val="002060"/>
                </a:solidFill>
              </a:rPr>
              <a:t>You</a:t>
            </a:r>
            <a:r>
              <a:rPr lang="pt-BR" sz="3600" dirty="0">
                <a:solidFill>
                  <a:srgbClr val="002060"/>
                </a:solidFill>
              </a:rPr>
              <a:t>!</a:t>
            </a:r>
          </a:p>
          <a:p>
            <a:pPr marL="0" indent="0" algn="ctr">
              <a:buFont typeface="Arial" panose="020B0604020202020204" pitchFamily="34" charset="0"/>
              <a:buNone/>
            </a:pPr>
            <a:endParaRPr lang="pt-BR" sz="3600" dirty="0">
              <a:solidFill>
                <a:srgbClr val="002060"/>
              </a:solidFill>
            </a:endParaRPr>
          </a:p>
          <a:p>
            <a:pPr marL="0" indent="0" algn="ctr">
              <a:buFont typeface="Arial" panose="020B0604020202020204" pitchFamily="34" charset="0"/>
              <a:buNone/>
            </a:pPr>
            <a:r>
              <a:rPr lang="pt-BR" sz="3600" dirty="0" err="1">
                <a:solidFill>
                  <a:srgbClr val="002060"/>
                </a:solidFill>
              </a:rPr>
              <a:t>Questions</a:t>
            </a:r>
            <a:r>
              <a:rPr lang="pt-BR" sz="3600" dirty="0">
                <a:solidFill>
                  <a:srgbClr val="002060"/>
                </a:solidFill>
              </a:rPr>
              <a:t>?</a:t>
            </a:r>
          </a:p>
          <a:p>
            <a:pPr marL="0" indent="0" algn="ctr">
              <a:buFont typeface="Arial" panose="020B0604020202020204" pitchFamily="34" charset="0"/>
              <a:buNone/>
            </a:pPr>
            <a:endParaRPr lang="pt-BR" sz="3600" dirty="0">
              <a:solidFill>
                <a:srgbClr val="002060"/>
              </a:solidFill>
            </a:endParaRPr>
          </a:p>
          <a:p>
            <a:pPr marL="0" indent="0" algn="ctr">
              <a:buFont typeface="Arial" panose="020B0604020202020204" pitchFamily="34" charset="0"/>
              <a:buNone/>
            </a:pPr>
            <a:r>
              <a:rPr lang="pt-BR" dirty="0" err="1">
                <a:solidFill>
                  <a:srgbClr val="002060"/>
                </a:solidFill>
              </a:rPr>
              <a:t>Presenting</a:t>
            </a:r>
            <a:r>
              <a:rPr lang="pt-BR" dirty="0">
                <a:solidFill>
                  <a:srgbClr val="002060"/>
                </a:solidFill>
              </a:rPr>
              <a:t> </a:t>
            </a:r>
            <a:r>
              <a:rPr lang="pt-BR" dirty="0" err="1">
                <a:solidFill>
                  <a:srgbClr val="002060"/>
                </a:solidFill>
              </a:rPr>
              <a:t>Author’s</a:t>
            </a:r>
            <a:r>
              <a:rPr lang="pt-BR" dirty="0">
                <a:solidFill>
                  <a:srgbClr val="002060"/>
                </a:solidFill>
              </a:rPr>
              <a:t> </a:t>
            </a:r>
            <a:r>
              <a:rPr lang="pt-BR" dirty="0" err="1">
                <a:solidFill>
                  <a:srgbClr val="002060"/>
                </a:solidFill>
              </a:rPr>
              <a:t>name</a:t>
            </a:r>
            <a:r>
              <a:rPr lang="pt-BR" dirty="0">
                <a:solidFill>
                  <a:srgbClr val="002060"/>
                </a:solidFill>
              </a:rPr>
              <a:t> </a:t>
            </a:r>
            <a:r>
              <a:rPr lang="pt-BR" dirty="0" err="1">
                <a:solidFill>
                  <a:srgbClr val="002060"/>
                </a:solidFill>
              </a:rPr>
              <a:t>and</a:t>
            </a:r>
            <a:r>
              <a:rPr lang="pt-BR" dirty="0">
                <a:solidFill>
                  <a:srgbClr val="002060"/>
                </a:solidFill>
              </a:rPr>
              <a:t> e-mail </a:t>
            </a:r>
            <a:r>
              <a:rPr lang="pt-BR" dirty="0" err="1">
                <a:solidFill>
                  <a:srgbClr val="002060"/>
                </a:solidFill>
              </a:rPr>
              <a:t>contact</a:t>
            </a:r>
            <a:endParaRPr lang="pt-BR" dirty="0">
              <a:solidFill>
                <a:srgbClr val="002060"/>
              </a:solidFill>
            </a:endParaRPr>
          </a:p>
        </p:txBody>
      </p:sp>
      <p:sp>
        <p:nvSpPr>
          <p:cNvPr id="5" name="Text Box 9">
            <a:extLst>
              <a:ext uri="{FF2B5EF4-FFF2-40B4-BE49-F238E27FC236}">
                <a16:creationId xmlns:a16="http://schemas.microsoft.com/office/drawing/2014/main" id="{7E6E6EFE-24F3-ADC1-A082-C84E0CABD353}"/>
              </a:ext>
            </a:extLst>
          </p:cNvPr>
          <p:cNvSpPr txBox="1">
            <a:spLocks noChangeArrowheads="1"/>
          </p:cNvSpPr>
          <p:nvPr/>
        </p:nvSpPr>
        <p:spPr bwMode="auto">
          <a:xfrm>
            <a:off x="10193586" y="137917"/>
            <a:ext cx="1998414" cy="954107"/>
          </a:xfrm>
          <a:prstGeom prst="rect">
            <a:avLst/>
          </a:prstGeom>
          <a:noFill/>
          <a:ln>
            <a:noFill/>
            <a:headEnd/>
            <a:tailEnd/>
          </a:ln>
        </p:spPr>
        <p:style>
          <a:lnRef idx="1">
            <a:schemeClr val="dk1"/>
          </a:lnRef>
          <a:fillRef idx="2">
            <a:schemeClr val="dk1"/>
          </a:fillRef>
          <a:effectRef idx="1">
            <a:schemeClr val="dk1"/>
          </a:effectRef>
          <a:fontRef idx="minor">
            <a:schemeClr val="dk1"/>
          </a:fontRef>
        </p:style>
        <p:txBody>
          <a:bodyPr wrap="square">
            <a:spAutoFit/>
          </a:bodyPr>
          <a:lstStyle/>
          <a:p>
            <a:pPr algn="ctr" eaLnBrk="1" hangingPunct="1">
              <a:defRPr/>
            </a:pPr>
            <a:r>
              <a:rPr lang="tr-TR" sz="1400" b="1" dirty="0" err="1">
                <a:solidFill>
                  <a:schemeClr val="tx1"/>
                </a:solidFill>
                <a:latin typeface="+mj-lt"/>
                <a:ea typeface="Segoe UI Historic" panose="020B0502040204020203" pitchFamily="34" charset="0"/>
                <a:cs typeface="Segoe UI Historic" panose="020B0502040204020203" pitchFamily="34" charset="0"/>
              </a:rPr>
              <a:t>Optional</a:t>
            </a:r>
            <a:r>
              <a:rPr lang="tr-TR" sz="1400" b="1" dirty="0">
                <a:solidFill>
                  <a:schemeClr val="tx1"/>
                </a:solidFill>
                <a:latin typeface="+mj-lt"/>
                <a:ea typeface="Segoe UI Historic" panose="020B0502040204020203" pitchFamily="34" charset="0"/>
                <a:cs typeface="Segoe UI Historic" panose="020B0502040204020203" pitchFamily="34" charset="0"/>
              </a:rPr>
              <a:t> </a:t>
            </a:r>
          </a:p>
          <a:p>
            <a:pPr algn="ctr" eaLnBrk="1" hangingPunct="1">
              <a:defRPr/>
            </a:pPr>
            <a:r>
              <a:rPr lang="tr-TR" sz="1400" b="1" dirty="0">
                <a:solidFill>
                  <a:schemeClr val="tx1"/>
                </a:solidFill>
                <a:latin typeface="+mj-lt"/>
                <a:ea typeface="Segoe UI Historic" panose="020B0502040204020203" pitchFamily="34" charset="0"/>
                <a:cs typeface="Segoe UI Historic" panose="020B0502040204020203" pitchFamily="34" charset="0"/>
              </a:rPr>
              <a:t>Institutional Logo</a:t>
            </a:r>
          </a:p>
          <a:p>
            <a:pPr algn="ctr" eaLnBrk="1" hangingPunct="1">
              <a:defRPr/>
            </a:pPr>
            <a:r>
              <a:rPr lang="pt-BR" sz="1400" b="1" dirty="0">
                <a:solidFill>
                  <a:schemeClr val="tx1"/>
                </a:solidFill>
                <a:latin typeface="+mj-lt"/>
                <a:ea typeface="Segoe UI Historic" panose="020B0502040204020203" pitchFamily="34" charset="0"/>
                <a:cs typeface="Segoe UI Historic" panose="020B0502040204020203" pitchFamily="34" charset="0"/>
              </a:rPr>
              <a:t> (</a:t>
            </a:r>
            <a:r>
              <a:rPr lang="pt-BR" sz="1400" b="1" dirty="0" err="1">
                <a:solidFill>
                  <a:schemeClr val="tx1"/>
                </a:solidFill>
                <a:latin typeface="+mj-lt"/>
                <a:ea typeface="Segoe UI Historic" panose="020B0502040204020203" pitchFamily="34" charset="0"/>
                <a:cs typeface="Segoe UI Historic" panose="020B0502040204020203" pitchFamily="34" charset="0"/>
              </a:rPr>
              <a:t>with</a:t>
            </a:r>
            <a:r>
              <a:rPr lang="pt-BR" sz="1400" b="1" dirty="0">
                <a:solidFill>
                  <a:schemeClr val="tx1"/>
                </a:solidFill>
                <a:latin typeface="+mj-lt"/>
                <a:ea typeface="Segoe UI Historic" panose="020B0502040204020203" pitchFamily="34" charset="0"/>
                <a:cs typeface="Segoe UI Historic" panose="020B0502040204020203" pitchFamily="34" charset="0"/>
              </a:rPr>
              <a:t> </a:t>
            </a:r>
            <a:r>
              <a:rPr lang="pt-BR" sz="1400" b="1" dirty="0" err="1">
                <a:solidFill>
                  <a:schemeClr val="tx1"/>
                </a:solidFill>
                <a:latin typeface="+mj-lt"/>
                <a:ea typeface="Segoe UI Historic" panose="020B0502040204020203" pitchFamily="34" charset="0"/>
                <a:cs typeface="Segoe UI Historic" panose="020B0502040204020203" pitchFamily="34" charset="0"/>
              </a:rPr>
              <a:t>transparent</a:t>
            </a:r>
            <a:r>
              <a:rPr lang="pt-BR" sz="1400" b="1" dirty="0">
                <a:solidFill>
                  <a:schemeClr val="tx1"/>
                </a:solidFill>
                <a:latin typeface="+mj-lt"/>
                <a:ea typeface="Segoe UI Historic" panose="020B0502040204020203" pitchFamily="34" charset="0"/>
                <a:cs typeface="Segoe UI Historic" panose="020B0502040204020203" pitchFamily="34" charset="0"/>
              </a:rPr>
              <a:t> background)</a:t>
            </a:r>
            <a:endParaRPr lang="en-US" sz="1400" b="1" dirty="0">
              <a:solidFill>
                <a:schemeClr val="tx1"/>
              </a:solidFill>
              <a:latin typeface="+mj-lt"/>
              <a:ea typeface="Segoe UI Historic" panose="020B0502040204020203" pitchFamily="34" charset="0"/>
              <a:cs typeface="Segoe UI Historic" panose="020B0502040204020203" pitchFamily="34" charset="0"/>
            </a:endParaRPr>
          </a:p>
        </p:txBody>
      </p:sp>
    </p:spTree>
    <p:extLst>
      <p:ext uri="{BB962C8B-B14F-4D97-AF65-F5344CB8AC3E}">
        <p14:creationId xmlns:p14="http://schemas.microsoft.com/office/powerpoint/2010/main" val="3295697901"/>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2060"/>
        </a:solidFill>
      </a:spPr>
      <a:bodyPr rtlCol="0" anchor="ctr"/>
      <a:lstStyle>
        <a:defPPr algn="l">
          <a:defRPr sz="1600" b="1"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380</Words>
  <Application>Microsoft Office PowerPoint</Application>
  <PresentationFormat>Widescreen</PresentationFormat>
  <Paragraphs>38</Paragraphs>
  <Slides>4</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4</vt:i4>
      </vt:variant>
    </vt:vector>
  </HeadingPairs>
  <TitlesOfParts>
    <vt:vector size="10" baseType="lpstr">
      <vt:lpstr>Arial</vt:lpstr>
      <vt:lpstr>Calibri</vt:lpstr>
      <vt:lpstr>Calibri Light</vt:lpstr>
      <vt:lpstr>Century Gothic</vt:lpstr>
      <vt:lpstr>Segoe UI Historic</vt:lpstr>
      <vt:lpstr>Tema do Office</vt:lpstr>
      <vt:lpstr>Apresentação do PowerPoint</vt:lpstr>
      <vt:lpstr>Instructions for Oral Presentations – In-Person and Remote Formats</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Lucas Fabrício</dc:creator>
  <cp:lastModifiedBy>Ester Maria Rodrigues de Andrade</cp:lastModifiedBy>
  <cp:revision>19</cp:revision>
  <dcterms:created xsi:type="dcterms:W3CDTF">2025-06-16T02:15:58Z</dcterms:created>
  <dcterms:modified xsi:type="dcterms:W3CDTF">2025-08-27T11:29:02Z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2025-08-27T11:29:02Z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d5d2022e-4de4-48ab-89c2-10c6d9ee0518</vt:lpwstr>
  </property>
  <property fmtid="{D5CDD505-2E9C-101B-9397-08002B2CF9AE}" pid="7" name="MSIP_Label_defa4170-0d19-0005-0004-bc88714345d2_ActionId">
    <vt:lpwstr>3f352348-8d62-438a-bb80-77997d636b90</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